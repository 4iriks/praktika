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PyAnswer — локальная поисковая и RAG-система по русскоязычной базе знаний Python. Проект объединяет реальный корпус Stack Overflow на русском, гибридный поиск и локальную генерацию с цитатами. На титульном слайде показан живой интерфейс, снятый через браузер в HTTP-режиме без mock-данных. Вся дальнейшая статистика взята из PostgreSQL, Qdrant и сгенерированных артефактов проекта на 16 июля 2026 года.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Задача состоит не только в создании поиска. Система должна получить большой корпус, устойчиво обработать его, построить два разных индекса, вернуть top-N с объяснимыми score и сформировать ответ только на основании найденных материалов. Отдельная часть задачи — единый UI для пользователя, редактора и администратора. Поэтому проект рассматривается как полный конвейер от внешнего API до проверяемого ответа с источниками.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 — Stack Overflow на русском: сайт ru.stackoverflow, тег python. Документом считается ветка вопроса с метаданными, выбранными ответами, тегами, кодом, авторством и ссылкой на оригинал. В базе подтверждено 10 700 реально обработанных документов; ещё 20 записей относятся к demo-данным и отдельно не засчитываются. Сохранено 10 261 ответ, создано 25 214 чанков и 1 475 нормализованных тегов.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Слева начинается ingestion: Stack Exchange API передаёт страницы отдельному worker, который сохраняет источник истины в PostgreSQL. Indexer читает актуальные чанки, получает embedding через Ollama и атомарно публикует индекс в Qdrant. Пользователь работает через единый origin Nginx и React; FastAPI обращается к PostgreSQL, Qdrant, reranker и Ollama. В compose-файле восемь сервисов, а базы и модели напрямую браузеру не открываются.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Worker получает до ста вопросов на страницу и пакетно догружает ответы. Он уважает quota, Retry-After и backoff, очищает HTML парсером, но сохраняет fenced-код. Для корпуса выбирается принятый и до трёх дополнительных ответов. Identity и SHA-256 используются для upsert и exact-дедупликации. После commit сохраняется checkpoint, поэтому job продолжает работу после паузы или рестарта без пропуска документов.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ERD удобно читать по пяти контурам. Identity хранит пользователей, роли, разрешения и сессии. Corpus связывает sources, documents, answers, tags, revisions и chunks. Operations отвечает за durable jobs, события, workers, failures и audit. Search хранит версии индекса, соответствия chunk-to-point и telemetry. RAG сохраняет ответы и точное соответствие цитат источникам. PostgreSQL остаётся источником истины, а Qdrant — восстанавливаемым производным индексом.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Sparse-ветка использует Qdrant BM25 и хорошо ловит точные идентификаторы. Dense-ветка использует embedding qwen3-embedding:0.6b размерности 1024 и cosine HNSW с m=16 и ef_construct=100. Индекс публикуется blue-green: строится новая физическая collection, проходит consistency check и затем alias pyanswer_chunks_current переключается атомарно. В активной collection подтверждено 25 214 points — ровно столько же, сколько индексируемых чанков.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Сырые BM25 и cosine score нельзя складывать напрямую, поэтому кандидаты объединяются weighted Reciprocal Rank Fusion с k=60 и равными весами. После fusion top-кандидаты оценивает локальный Qwen3 Reranker. При успешном reranker итоговый score складывается из 85 процентов reranker-score и 15 процентов нормализованного fusion. На реальном скриншоте раскрыты все компоненты оценки конкретного результата.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использует тот же hybrid retrieval, обязательный reranker и проверку видимости документа. Из актуальных чанков строится ограниченный контекст, затем Ollama qwen3:8b генерирует ответ. Backend валидирует цитаты и сохраняет ответ вместе с model, prompt и index version. Если источников или уверенности недостаточно, LLM не вызывается. Показанный запрос завершился за 29 026 миллисекунд: поиск 20 961, генерация 8 033, три источника.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Пользовательский контур состоит из главной, поискового workspace, страницы документа и профиля. В поиске можно переключить BM25, Vector и Hybrid, открыть score breakdown, применить фильтры и перейти к оригинальному источнику. RAG выводит ответ потоково и показывает использованные документы. История, сохранённые документы и предпочтения привязаны к USER. Все четыре изображения на слайде получены из живого приложения.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Разделение ролей выполняется на сервере. USER ищет, задаёт вопросы, сохраняет документы и управляет своим профилем. EDITOR получает документы, quality queue, операции скрытия, восстановления и переиндексации. ADMIN дополнительно управляет пользователями, источниками, jobs, индексами, аудитом и системой. Пароли хэшируются Argon2id, сессия хранится в opaque HttpOnly-cookie, изменяющие запросы защищены CSRF, а административные действия записываются в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Административный контур показывает реальное состояние проекта: обзор, источник Stack Overflow, фоновые jobs, immutable audit и системную телеметрию. На странице источника видны подтверждённые counts корпуса. Jobs отражают durable очередь со стадиями, progress, retry и cancellation. Audit связывает actor, роль, действие, сущность, outcome и request ID. System status честно показывает UNKNOWN или offline, если метрику невозможно получить, а не заменяет её зелёным статусом.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release manifest зафиксированы 188 backend и 103 frontend теста. Backend coverage равен 81,13 процента при пороге 80; branch coverage включён. Acceptance и index consistency имеют PASS, включая live BM25, Vector, Hybrid, RAG и Qdrant point count. Отдельного browser E2E-suite нет. Quality evaluation тоже пока не измерена: в наборах есть 30 retrieval и 20 RAG примеров, но reviewed равно нулю, поэтому метрики relevance не публикуются.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собрана короткая демонстрация четырёх контуров. В Hybrid видны реальные результаты и разложение score. RAG формирует локальный ответ с цитатами. Редактор видит quality queue и последние задания, администратор — corpus, пользователей, latency и системные действия. Эти кадры можно использовать как резерв демонстрации, но они не являются mock-макетом: браузер получил 49 ответов от живого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результате реализован end-to-end локальный продукт: ingestion, PostgreSQL, versioned Qdrant index, три режима поиска, reranker, streaming RAG, citations, RBAC, audit и административный UI. Подтверждённый реальный корпус 10 700 документов превышает минимальное требование в 5 000. Ограничения зафиксированы честно: импорт до цели 25 тысяч продолжается по checkpoint, browser E2E отсутствует, а quality evaluation ждёт ручной разметки. Следующие шаги — reviewed qrels, E2E и оптимизация latency.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YANSWER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7386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7386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272F3"/>
          </a:solidFill>
          <a:ln w="12700">
            <a:solidFill>
              <a:srgbClr val="8272F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55080" y="1143000"/>
            <a:ext cx="5349240" cy="2048256"/>
          </a:xfrm>
          <a:prstGeom prst="roundRect">
            <a:avLst>
              <a:gd name="adj" fmla="val 3571"/>
            </a:avLst>
          </a:prstGeom>
          <a:solidFill>
            <a:srgbClr val="090E18"/>
          </a:solidFill>
          <a:ln w="10160">
            <a:solidFill>
              <a:srgbClr val="24304A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pic>
        <p:nvPicPr>
          <p:cNvPr id="4" name="Image 0" descr="Живая главная · VITE_USE_MOCKS=fal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9944" y="1197864"/>
            <a:ext cx="5239512" cy="1719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64808" y="2916936"/>
            <a:ext cx="5129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Живая главная · VITE_USE_MOCKS=false</a:t>
            </a:r>
            <a:endParaRPr lang="en-US" sz="720" dirty="0"/>
          </a:p>
        </p:txBody>
      </p:sp>
      <p:sp>
        <p:nvSpPr>
          <p:cNvPr id="6" name="Shape 3"/>
          <p:cNvSpPr/>
          <p:nvPr/>
        </p:nvSpPr>
        <p:spPr>
          <a:xfrm>
            <a:off x="6419088" y="3401568"/>
            <a:ext cx="1572768" cy="822960"/>
          </a:xfrm>
          <a:prstGeom prst="roundRect">
            <a:avLst>
              <a:gd name="adj" fmla="val 8889"/>
            </a:avLst>
          </a:prstGeom>
          <a:solidFill>
            <a:srgbClr val="111A2C"/>
          </a:solidFill>
          <a:ln w="10160">
            <a:solidFill>
              <a:srgbClr val="2430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65392" y="3511296"/>
            <a:ext cx="1280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8D39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10 700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565392" y="38953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REAL DOCS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8183880" y="3401568"/>
            <a:ext cx="1664208" cy="822960"/>
          </a:xfrm>
          <a:prstGeom prst="roundRect">
            <a:avLst>
              <a:gd name="adj" fmla="val 8889"/>
            </a:avLst>
          </a:prstGeom>
          <a:solidFill>
            <a:srgbClr val="111A2C"/>
          </a:solidFill>
          <a:ln w="10160">
            <a:solidFill>
              <a:srgbClr val="2430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30184" y="3511296"/>
            <a:ext cx="1371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272F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25 214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330184" y="389534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QDRANT POINTS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10040112" y="3401568"/>
            <a:ext cx="1572768" cy="822960"/>
          </a:xfrm>
          <a:prstGeom prst="roundRect">
            <a:avLst>
              <a:gd name="adj" fmla="val 8889"/>
            </a:avLst>
          </a:prstGeom>
          <a:solidFill>
            <a:srgbClr val="111A2C"/>
          </a:solidFill>
          <a:ln w="10160">
            <a:solidFill>
              <a:srgbClr val="2430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186416" y="3511296"/>
            <a:ext cx="1280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5B9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0186416" y="38953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SEARCH MODES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94360" y="658368"/>
            <a:ext cx="2121408" cy="274320"/>
          </a:xfrm>
          <a:prstGeom prst="roundRect">
            <a:avLst>
              <a:gd name="adj" fmla="val 26667"/>
            </a:avLst>
          </a:prstGeom>
          <a:solidFill>
            <a:srgbClr val="45B9E8">
              <a:alpha val="16000"/>
            </a:srgbClr>
          </a:solidFill>
          <a:ln w="8890">
            <a:solidFill>
              <a:srgbClr val="45B9E8">
                <a:alpha val="5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9224" y="66751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5B9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LOCAL · SEARCH · RAG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594360" y="123444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5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PyAnswer</a:t>
            </a:r>
            <a:endParaRPr lang="en-US" sz="3800" dirty="0"/>
          </a:p>
        </p:txBody>
      </p:sp>
      <p:sp>
        <p:nvSpPr>
          <p:cNvPr id="18" name="Text 15"/>
          <p:cNvSpPr/>
          <p:nvPr/>
        </p:nvSpPr>
        <p:spPr>
          <a:xfrm>
            <a:off x="621792" y="1993392"/>
            <a:ext cx="5349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локальная поисковая RAG-система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 русскоязычной базе знаний Python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621792" y="3840480"/>
            <a:ext cx="5349240" cy="1060704"/>
          </a:xfrm>
          <a:prstGeom prst="roundRect">
            <a:avLst>
              <a:gd name="adj" fmla="val 6897"/>
            </a:avLst>
          </a:prstGeom>
          <a:solidFill>
            <a:srgbClr val="111A2C"/>
          </a:solidFill>
          <a:ln w="10160">
            <a:solidFill>
              <a:srgbClr val="24304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1248" y="40416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Stack Overflow на русском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41248" y="443484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5B9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PostgreSQL  ·  Qdrant  ·  FastAPI  ·  React  ·  Ollama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30936" y="608990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973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Финальная защита · 16 июля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7386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272F3"/>
          </a:solidFill>
          <a:ln w="12700">
            <a:solidFill>
              <a:srgbClr val="8272F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45B9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ЗАДАЧА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От корпуса к проверяемому ответу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100584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Один продукт, пять связанных инженерных задач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692640" y="31089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PyAnswer  /  02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30352" y="1828800"/>
            <a:ext cx="1993392" cy="2331720"/>
          </a:xfrm>
          <a:prstGeom prst="roundRect">
            <a:avLst>
              <a:gd name="adj" fmla="val 3670"/>
            </a:avLst>
          </a:prstGeom>
          <a:solidFill>
            <a:srgbClr val="0E1422"/>
          </a:solidFill>
          <a:ln w="10160">
            <a:solidFill>
              <a:srgbClr val="2430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9339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5B9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2496312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Корпус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3072384"/>
            <a:ext cx="16824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pagination · quota · backoff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0" y="2807208"/>
            <a:ext cx="219456" cy="201168"/>
          </a:xfrm>
          <a:prstGeom prst="chevron">
            <a:avLst/>
          </a:prstGeom>
          <a:solidFill>
            <a:srgbClr val="8272F3">
              <a:alpha val="85000"/>
            </a:srgbClr>
          </a:solidFill>
          <a:ln w="12700">
            <a:solidFill>
              <a:srgbClr val="8272F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43784" y="1828800"/>
            <a:ext cx="1993392" cy="2331720"/>
          </a:xfrm>
          <a:prstGeom prst="roundRect">
            <a:avLst>
              <a:gd name="adj" fmla="val 3670"/>
            </a:avLst>
          </a:prstGeom>
          <a:solidFill>
            <a:srgbClr val="0E1422"/>
          </a:solidFill>
          <a:ln w="10160">
            <a:solidFill>
              <a:srgbClr val="2430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9232" y="199339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5B9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99232" y="2496312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Обработка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99232" y="3072384"/>
            <a:ext cx="16824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HTML · code · dedup · chunks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73752" y="2807208"/>
            <a:ext cx="219456" cy="201168"/>
          </a:xfrm>
          <a:prstGeom prst="chevron">
            <a:avLst/>
          </a:prstGeom>
          <a:solidFill>
            <a:srgbClr val="8272F3">
              <a:alpha val="85000"/>
            </a:srgbClr>
          </a:solidFill>
          <a:ln w="12700">
            <a:solidFill>
              <a:srgbClr val="8272F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57216" y="1828800"/>
            <a:ext cx="1993392" cy="2331720"/>
          </a:xfrm>
          <a:prstGeom prst="roundRect">
            <a:avLst>
              <a:gd name="adj" fmla="val 3670"/>
            </a:avLst>
          </a:prstGeom>
          <a:solidFill>
            <a:srgbClr val="0E1422"/>
          </a:solidFill>
          <a:ln w="10160">
            <a:solidFill>
              <a:srgbClr val="2430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12664" y="199339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5B9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12664" y="2496312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Поиск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12664" y="3072384"/>
            <a:ext cx="16824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BM25 · Vector · top-N · score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187184" y="2807208"/>
            <a:ext cx="219456" cy="201168"/>
          </a:xfrm>
          <a:prstGeom prst="chevron">
            <a:avLst/>
          </a:prstGeom>
          <a:solidFill>
            <a:srgbClr val="8272F3">
              <a:alpha val="85000"/>
            </a:srgbClr>
          </a:solidFill>
          <a:ln w="12700">
            <a:solidFill>
              <a:srgbClr val="8272F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70648" y="1828800"/>
            <a:ext cx="1993392" cy="2331720"/>
          </a:xfrm>
          <a:prstGeom prst="roundRect">
            <a:avLst>
              <a:gd name="adj" fmla="val 3670"/>
            </a:avLst>
          </a:prstGeom>
          <a:solidFill>
            <a:srgbClr val="15172A"/>
          </a:solidFill>
          <a:ln w="10160">
            <a:solidFill>
              <a:srgbClr val="2430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6096" y="199339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5B9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626096" y="2496312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RAG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6096" y="3072384"/>
            <a:ext cx="16824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rerank · context · citations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500616" y="2807208"/>
            <a:ext cx="219456" cy="201168"/>
          </a:xfrm>
          <a:prstGeom prst="chevron">
            <a:avLst/>
          </a:prstGeom>
          <a:solidFill>
            <a:srgbClr val="8272F3">
              <a:alpha val="85000"/>
            </a:srgbClr>
          </a:solidFill>
          <a:ln w="12700">
            <a:solidFill>
              <a:srgbClr val="8272F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84080" y="1828800"/>
            <a:ext cx="1993392" cy="2331720"/>
          </a:xfrm>
          <a:prstGeom prst="roundRect">
            <a:avLst>
              <a:gd name="adj" fmla="val 3670"/>
            </a:avLst>
          </a:prstGeom>
          <a:solidFill>
            <a:srgbClr val="0E1422"/>
          </a:solidFill>
          <a:ln w="10160">
            <a:solidFill>
              <a:srgbClr val="2430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39528" y="199339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5B9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939528" y="2496312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UI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939528" y="3072384"/>
            <a:ext cx="16824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USER · EDITOR · ADMIN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234440" y="4800600"/>
            <a:ext cx="9720072" cy="713232"/>
          </a:xfrm>
          <a:prstGeom prst="roundRect">
            <a:avLst>
              <a:gd name="adj" fmla="val 10256"/>
            </a:avLst>
          </a:prstGeom>
          <a:solidFill>
            <a:srgbClr val="111A2C"/>
          </a:solidFill>
          <a:ln w="10160">
            <a:solidFill>
              <a:srgbClr val="8272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81328" y="50017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272F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Цель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148840" y="49194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Найти материал  →  объяснить ranking  →  дать grounded-ответ  →  открыть источник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8890">
            <a:solidFill>
              <a:srgbClr val="2430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" y="6492240"/>
            <a:ext cx="9966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973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Данные: README.md · docs/stage5-ingestion.md · docs/hybrid-ranking.md · docs/rag-architecture.md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7386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272F3"/>
          </a:solidFill>
          <a:ln w="12700">
            <a:solidFill>
              <a:srgbClr val="8272F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45B9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ДАННЫЕ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Stack Overflow на русском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100584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site ru.stackoverflow · tag python · документ = вопрос + выбранные ответы + attribution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692640" y="31089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PyAnswer  /  03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30352" y="1627632"/>
            <a:ext cx="2057400" cy="822960"/>
          </a:xfrm>
          <a:prstGeom prst="roundRect">
            <a:avLst>
              <a:gd name="adj" fmla="val 8889"/>
            </a:avLst>
          </a:prstGeom>
          <a:solidFill>
            <a:srgbClr val="111A2C"/>
          </a:solidFill>
          <a:ln w="10160">
            <a:solidFill>
              <a:srgbClr val="2430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1737360"/>
            <a:ext cx="17647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8D39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10 700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76656" y="2121408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РЕАЛЬНЫХ ОБРАБОТАННЫХ ДОКУМЕНТОВ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724912" y="1627632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111A2C"/>
          </a:solidFill>
          <a:ln w="10160">
            <a:solidFill>
              <a:srgbClr val="2430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71216" y="1737360"/>
            <a:ext cx="1261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5B9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10 261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871216" y="2121408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ОТВЕТОВ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416552" y="1627632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111A2C"/>
          </a:solidFill>
          <a:ln w="10160">
            <a:solidFill>
              <a:srgbClr val="2430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62856" y="1737360"/>
            <a:ext cx="1261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272F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25 214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62856" y="2121408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ЧАНКОВ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30352" y="2615184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111A2C"/>
          </a:solidFill>
          <a:ln w="10160">
            <a:solidFill>
              <a:srgbClr val="2430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2724912"/>
            <a:ext cx="1261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6C85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1 475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76656" y="310896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ТЕГОВ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221992" y="2615184"/>
            <a:ext cx="3749040" cy="1993392"/>
          </a:xfrm>
          <a:prstGeom prst="roundRect">
            <a:avLst>
              <a:gd name="adj" fmla="val 3670"/>
            </a:avLst>
          </a:prstGeom>
          <a:solidFill>
            <a:srgbClr val="0E1422"/>
          </a:solidFill>
          <a:ln w="10160">
            <a:solidFill>
              <a:srgbClr val="2430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14016" y="28163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Что хранит документ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404872" y="3264408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45B9E8">
              <a:alpha val="16000"/>
            </a:srgbClr>
          </a:solidFill>
          <a:ln w="8890">
            <a:solidFill>
              <a:srgbClr val="45B9E8">
                <a:alpha val="5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59736" y="3273552"/>
            <a:ext cx="1307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5B9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вопрос и metadata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3995928" y="3264408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45B9E8">
              <a:alpha val="16000"/>
            </a:srgbClr>
          </a:solidFill>
          <a:ln w="8890">
            <a:solidFill>
              <a:srgbClr val="45B9E8">
                <a:alpha val="5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50792" y="3273552"/>
            <a:ext cx="1307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5B9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принятый + до 3 ответов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2404872" y="3739896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8272F3">
              <a:alpha val="16000"/>
            </a:srgbClr>
          </a:solidFill>
          <a:ln w="8890">
            <a:solidFill>
              <a:srgbClr val="8272F3">
                <a:alpha val="5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59736" y="3749040"/>
            <a:ext cx="1307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8272F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теги и fenced code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3995928" y="3739896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8272F3">
              <a:alpha val="16000"/>
            </a:srgbClr>
          </a:solidFill>
          <a:ln w="8890">
            <a:solidFill>
              <a:srgbClr val="8272F3">
                <a:alpha val="5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50792" y="3749040"/>
            <a:ext cx="1307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8272F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URL · авторство · лицензия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6236208" y="1609344"/>
            <a:ext cx="5431536" cy="3703320"/>
          </a:xfrm>
          <a:prstGeom prst="roundRect">
            <a:avLst>
              <a:gd name="adj" fmla="val 1975"/>
            </a:avLst>
          </a:prstGeom>
          <a:solidFill>
            <a:srgbClr val="090E18"/>
          </a:solidFill>
          <a:ln w="10160">
            <a:solidFill>
              <a:srgbClr val="24304A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pic>
        <p:nvPicPr>
          <p:cNvPr id="30" name="Image 0" descr="Живая страница источника · реальные count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91072" y="1664208"/>
            <a:ext cx="5321808" cy="3374136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6345936" y="5038344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Живая страница источника · реальные counts</a:t>
            </a:r>
            <a:endParaRPr lang="en-US" sz="720" dirty="0"/>
          </a:p>
        </p:txBody>
      </p:sp>
      <p:sp>
        <p:nvSpPr>
          <p:cNvPr id="32" name="Shape 29"/>
          <p:cNvSpPr/>
          <p:nvPr/>
        </p:nvSpPr>
        <p:spPr>
          <a:xfrm>
            <a:off x="530352" y="5001768"/>
            <a:ext cx="5577840" cy="603504"/>
          </a:xfrm>
          <a:prstGeom prst="roundRect">
            <a:avLst>
              <a:gd name="adj" fmla="val 12121"/>
            </a:avLst>
          </a:prstGeom>
          <a:solidFill>
            <a:srgbClr val="111A2C"/>
          </a:solidFill>
          <a:ln w="10160">
            <a:solidFill>
              <a:srgbClr val="24304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31520" y="5175504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Всего в БД: 10 720 = 10 700 real + 20 demo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8890">
            <a:solidFill>
              <a:srgbClr val="24304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21208" y="6492240"/>
            <a:ext cx="9966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973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Данные: artifacts/corpus-manifest.json · PostgreSQL live query · /admin/sources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7386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272F3"/>
          </a:solidFill>
          <a:ln w="12700">
            <a:solidFill>
              <a:srgbClr val="8272F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45B9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АРХИТЕКТУРА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От Stack Exchange до локального ответа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100584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PostgreSQL — source of truth · Qdrant — производный индекс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692640" y="31089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PyAnswer  /  04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30352" y="1664208"/>
            <a:ext cx="1536192" cy="960120"/>
          </a:xfrm>
          <a:prstGeom prst="roundRect">
            <a:avLst>
              <a:gd name="adj" fmla="val 7619"/>
            </a:avLst>
          </a:prstGeom>
          <a:solidFill>
            <a:srgbClr val="111A2C"/>
          </a:solidFill>
          <a:ln w="15240">
            <a:solidFill>
              <a:srgbClr val="F6C8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83080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6C85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Stack Exchange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084832"/>
            <a:ext cx="13167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ru.stackoverflow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python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2103120" y="2039112"/>
            <a:ext cx="320040" cy="201168"/>
          </a:xfrm>
          <a:prstGeom prst="chevron">
            <a:avLst/>
          </a:prstGeom>
          <a:solidFill>
            <a:srgbClr val="697386">
              <a:alpha val="85000"/>
            </a:srgbClr>
          </a:solidFill>
          <a:ln w="12700">
            <a:solidFill>
              <a:srgbClr val="69738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78024" y="1664208"/>
            <a:ext cx="1353312" cy="960120"/>
          </a:xfrm>
          <a:prstGeom prst="roundRect">
            <a:avLst>
              <a:gd name="adj" fmla="val 7619"/>
            </a:avLst>
          </a:prstGeom>
          <a:solidFill>
            <a:srgbClr val="111A2C"/>
          </a:solidFill>
          <a:ln w="15240">
            <a:solidFill>
              <a:srgbClr val="45B9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87752" y="1783080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5B9E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worker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87752" y="2084832"/>
            <a:ext cx="11338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checkpoint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lease · retry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3867912" y="2039112"/>
            <a:ext cx="320040" cy="201168"/>
          </a:xfrm>
          <a:prstGeom prst="chevron">
            <a:avLst/>
          </a:prstGeom>
          <a:solidFill>
            <a:srgbClr val="697386">
              <a:alpha val="85000"/>
            </a:srgbClr>
          </a:solidFill>
          <a:ln w="12700">
            <a:solidFill>
              <a:srgbClr val="69738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42816" y="150876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111A2C"/>
          </a:solidFill>
          <a:ln w="15240">
            <a:solidFill>
              <a:srgbClr val="38D39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52544" y="1627632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8D39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52544" y="1929384"/>
            <a:ext cx="16093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corpus · users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jobs · audit · RAG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6117336" y="2039112"/>
            <a:ext cx="320040" cy="201168"/>
          </a:xfrm>
          <a:prstGeom prst="chevron">
            <a:avLst/>
          </a:prstGeom>
          <a:solidFill>
            <a:srgbClr val="697386">
              <a:alpha val="85000"/>
            </a:srgbClr>
          </a:solidFill>
          <a:ln w="12700">
            <a:solidFill>
              <a:srgbClr val="697386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01384" y="1664208"/>
            <a:ext cx="1353312" cy="960120"/>
          </a:xfrm>
          <a:prstGeom prst="roundRect">
            <a:avLst>
              <a:gd name="adj" fmla="val 7619"/>
            </a:avLst>
          </a:prstGeom>
          <a:solidFill>
            <a:srgbClr val="111A2C"/>
          </a:solidFill>
          <a:ln w="15240">
            <a:solidFill>
              <a:srgbClr val="45B9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11112" y="1783080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5B9E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indexer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11112" y="2084832"/>
            <a:ext cx="11338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embedding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blue-green build</a:t>
            </a:r>
            <a:endParaRPr lang="en-US" sz="730" dirty="0"/>
          </a:p>
        </p:txBody>
      </p:sp>
      <p:sp>
        <p:nvSpPr>
          <p:cNvPr id="22" name="Shape 20"/>
          <p:cNvSpPr/>
          <p:nvPr/>
        </p:nvSpPr>
        <p:spPr>
          <a:xfrm>
            <a:off x="7900416" y="2039112"/>
            <a:ext cx="320040" cy="201168"/>
          </a:xfrm>
          <a:prstGeom prst="chevron">
            <a:avLst/>
          </a:prstGeom>
          <a:solidFill>
            <a:srgbClr val="697386">
              <a:alpha val="85000"/>
            </a:srgbClr>
          </a:solidFill>
          <a:ln w="12700">
            <a:solidFill>
              <a:srgbClr val="697386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84464" y="1508760"/>
            <a:ext cx="1645920" cy="1280160"/>
          </a:xfrm>
          <a:prstGeom prst="roundRect">
            <a:avLst>
              <a:gd name="adj" fmla="val 5714"/>
            </a:avLst>
          </a:prstGeom>
          <a:solidFill>
            <a:srgbClr val="111A2C"/>
          </a:solidFill>
          <a:ln w="15240">
            <a:solidFill>
              <a:srgbClr val="8272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94192" y="1627632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272F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Qdrant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94192" y="1929384"/>
            <a:ext cx="14264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BM25 sparse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HNSW dense</a:t>
            </a:r>
            <a:endParaRPr lang="en-US" sz="730" dirty="0"/>
          </a:p>
        </p:txBody>
      </p:sp>
      <p:sp>
        <p:nvSpPr>
          <p:cNvPr id="26" name="Shape 24"/>
          <p:cNvSpPr/>
          <p:nvPr/>
        </p:nvSpPr>
        <p:spPr>
          <a:xfrm>
            <a:off x="10149840" y="1508760"/>
            <a:ext cx="1499616" cy="1280160"/>
          </a:xfrm>
          <a:prstGeom prst="roundRect">
            <a:avLst>
              <a:gd name="adj" fmla="val 5714"/>
            </a:avLst>
          </a:prstGeom>
          <a:solidFill>
            <a:srgbClr val="111A2C"/>
          </a:solidFill>
          <a:ln w="15240">
            <a:solidFill>
              <a:srgbClr val="F6C8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59568" y="16276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6C85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Ollama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59568" y="1929384"/>
            <a:ext cx="1280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qwen3-embedding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qwen3:8b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777240" y="3977640"/>
            <a:ext cx="1316736" cy="868680"/>
          </a:xfrm>
          <a:prstGeom prst="roundRect">
            <a:avLst>
              <a:gd name="adj" fmla="val 8421"/>
            </a:avLst>
          </a:prstGeom>
          <a:solidFill>
            <a:srgbClr val="111A2C"/>
          </a:solidFill>
          <a:ln w="15240">
            <a:solidFill>
              <a:srgbClr val="99A4B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968" y="4096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Browser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86968" y="4398264"/>
            <a:ext cx="1097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пользователь</a:t>
            </a:r>
            <a:endParaRPr lang="en-US" sz="730" dirty="0"/>
          </a:p>
        </p:txBody>
      </p:sp>
      <p:sp>
        <p:nvSpPr>
          <p:cNvPr id="32" name="Shape 30"/>
          <p:cNvSpPr/>
          <p:nvPr/>
        </p:nvSpPr>
        <p:spPr>
          <a:xfrm>
            <a:off x="2148840" y="4315968"/>
            <a:ext cx="365760" cy="201168"/>
          </a:xfrm>
          <a:prstGeom prst="chevron">
            <a:avLst/>
          </a:prstGeom>
          <a:solidFill>
            <a:srgbClr val="8272F3">
              <a:alpha val="85000"/>
            </a:srgbClr>
          </a:solidFill>
          <a:ln w="12700">
            <a:solidFill>
              <a:srgbClr val="8272F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78608" y="3822192"/>
            <a:ext cx="1682496" cy="1170432"/>
          </a:xfrm>
          <a:prstGeom prst="roundRect">
            <a:avLst>
              <a:gd name="adj" fmla="val 6250"/>
            </a:avLst>
          </a:prstGeom>
          <a:solidFill>
            <a:srgbClr val="111A2C"/>
          </a:solidFill>
          <a:ln w="15240">
            <a:solidFill>
              <a:srgbClr val="8272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88336" y="394106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272F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Nginx + React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688336" y="4242816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единый origin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localhost:8080</a:t>
            </a:r>
            <a:endParaRPr lang="en-US" sz="730" dirty="0"/>
          </a:p>
        </p:txBody>
      </p:sp>
      <p:sp>
        <p:nvSpPr>
          <p:cNvPr id="36" name="Shape 34"/>
          <p:cNvSpPr/>
          <p:nvPr/>
        </p:nvSpPr>
        <p:spPr>
          <a:xfrm>
            <a:off x="4325112" y="4315968"/>
            <a:ext cx="411480" cy="201168"/>
          </a:xfrm>
          <a:prstGeom prst="chevron">
            <a:avLst/>
          </a:prstGeom>
          <a:solidFill>
            <a:srgbClr val="8272F3">
              <a:alpha val="85000"/>
            </a:srgbClr>
          </a:solidFill>
          <a:ln w="12700">
            <a:solidFill>
              <a:srgbClr val="8272F3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28032" y="3675888"/>
            <a:ext cx="1874520" cy="1444752"/>
          </a:xfrm>
          <a:prstGeom prst="roundRect">
            <a:avLst>
              <a:gd name="adj" fmla="val 5063"/>
            </a:avLst>
          </a:prstGeom>
          <a:solidFill>
            <a:srgbClr val="111A2C"/>
          </a:solidFill>
          <a:ln w="15240">
            <a:solidFill>
              <a:srgbClr val="45B9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3794760"/>
            <a:ext cx="1655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5B9E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FastAPI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37760" y="4096512"/>
            <a:ext cx="165506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auth · search · SSE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admin API</a:t>
            </a:r>
            <a:endParaRPr lang="en-US" sz="730" dirty="0"/>
          </a:p>
        </p:txBody>
      </p:sp>
      <p:sp>
        <p:nvSpPr>
          <p:cNvPr id="40" name="Shape 38"/>
          <p:cNvSpPr/>
          <p:nvPr/>
        </p:nvSpPr>
        <p:spPr>
          <a:xfrm>
            <a:off x="7388352" y="3904488"/>
            <a:ext cx="1481328" cy="987552"/>
          </a:xfrm>
          <a:prstGeom prst="roundRect">
            <a:avLst>
              <a:gd name="adj" fmla="val 7407"/>
            </a:avLst>
          </a:prstGeom>
          <a:solidFill>
            <a:srgbClr val="111A2C"/>
          </a:solidFill>
          <a:ln w="15240">
            <a:solidFill>
              <a:srgbClr val="F0747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98080" y="4023360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74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reranker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498080" y="4325112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Qwen3 0.6B</a:t>
            </a:r>
            <a:endParaRPr lang="en-US" sz="730" dirty="0"/>
          </a:p>
        </p:txBody>
      </p:sp>
      <p:sp>
        <p:nvSpPr>
          <p:cNvPr id="43" name="Shape 41"/>
          <p:cNvSpPr/>
          <p:nvPr/>
        </p:nvSpPr>
        <p:spPr>
          <a:xfrm>
            <a:off x="9317736" y="3822192"/>
            <a:ext cx="2011680" cy="1170432"/>
          </a:xfrm>
          <a:prstGeom prst="roundRect">
            <a:avLst>
              <a:gd name="adj" fmla="val 6250"/>
            </a:avLst>
          </a:prstGeom>
          <a:solidFill>
            <a:srgbClr val="111A2C"/>
          </a:solidFill>
          <a:ln w="15240">
            <a:solidFill>
              <a:srgbClr val="38D39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427464" y="3941064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8D39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local RAG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427464" y="4242816"/>
            <a:ext cx="1792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context · citations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insufficient gate</a:t>
            </a:r>
            <a:endParaRPr lang="en-US" sz="730" dirty="0"/>
          </a:p>
        </p:txBody>
      </p:sp>
      <p:sp>
        <p:nvSpPr>
          <p:cNvPr id="46" name="Shape 44"/>
          <p:cNvSpPr/>
          <p:nvPr/>
        </p:nvSpPr>
        <p:spPr>
          <a:xfrm>
            <a:off x="5760720" y="2862072"/>
            <a:ext cx="0" cy="777240"/>
          </a:xfrm>
          <a:prstGeom prst="line">
            <a:avLst/>
          </a:prstGeom>
          <a:noFill/>
          <a:ln w="17780">
            <a:solidFill>
              <a:srgbClr val="697386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6711696" y="4315968"/>
            <a:ext cx="548640" cy="0"/>
          </a:xfrm>
          <a:prstGeom prst="line">
            <a:avLst/>
          </a:prstGeom>
          <a:noFill/>
          <a:ln w="17780">
            <a:solidFill>
              <a:srgbClr val="697386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8915400" y="4315968"/>
            <a:ext cx="310896" cy="0"/>
          </a:xfrm>
          <a:prstGeom prst="line">
            <a:avLst/>
          </a:prstGeom>
          <a:noFill/>
          <a:ln w="17780">
            <a:solidFill>
              <a:srgbClr val="697386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10917936" y="2852928"/>
            <a:ext cx="0" cy="841248"/>
          </a:xfrm>
          <a:prstGeom prst="line">
            <a:avLst/>
          </a:prstGeom>
          <a:noFill/>
          <a:ln w="17780">
            <a:solidFill>
              <a:srgbClr val="697386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786384" y="5596128"/>
            <a:ext cx="10561320" cy="475488"/>
          </a:xfrm>
          <a:prstGeom prst="roundRect">
            <a:avLst>
              <a:gd name="adj" fmla="val 15385"/>
            </a:avLst>
          </a:prstGeom>
          <a:solidFill>
            <a:srgbClr val="111A2C"/>
          </a:solidFill>
          <a:ln w="10160">
            <a:solidFill>
              <a:srgbClr val="2430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05840" y="5733288"/>
            <a:ext cx="10104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Docker Compose · 8 сервисов: postgres · qdrant · ollama · backend · worker · indexer · reranker · frontend</a:t>
            </a:r>
            <a:endParaRPr lang="en-US" sz="860" dirty="0"/>
          </a:p>
        </p:txBody>
      </p:sp>
      <p:sp>
        <p:nvSpPr>
          <p:cNvPr id="52" name="Shape 50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8890">
            <a:solidFill>
              <a:srgbClr val="2430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1208" y="6492240"/>
            <a:ext cx="9966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973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Данные: compose.yaml · README.md · docs/worker-architecture.md · docs/rag-architecture.md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7386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272F3"/>
          </a:solidFill>
          <a:ln w="12700">
            <a:solidFill>
              <a:srgbClr val="8272F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45B9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INGESTION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Сбор и обработка данных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100584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Restart-safe pipeline: checkpoint сохраняется только после committed batch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692640" y="31089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PyAnswer  /  05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66928" y="1700784"/>
            <a:ext cx="2395728" cy="987552"/>
          </a:xfrm>
          <a:prstGeom prst="roundRect">
            <a:avLst>
              <a:gd name="adj" fmla="val 7407"/>
            </a:avLst>
          </a:prstGeom>
          <a:solidFill>
            <a:srgbClr val="0E1422"/>
          </a:solidFill>
          <a:ln w="10160">
            <a:solidFill>
              <a:srgbClr val="2430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81051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5B9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04088" y="204825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Pages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" y="23865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до 100 вопросов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035808" y="2084832"/>
            <a:ext cx="256032" cy="201168"/>
          </a:xfrm>
          <a:prstGeom prst="chevron">
            <a:avLst/>
          </a:prstGeom>
          <a:solidFill>
            <a:srgbClr val="8272F3">
              <a:alpha val="85000"/>
            </a:srgbClr>
          </a:solidFill>
          <a:ln w="12700">
            <a:solidFill>
              <a:srgbClr val="8272F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19856" y="1700784"/>
            <a:ext cx="2395728" cy="987552"/>
          </a:xfrm>
          <a:prstGeom prst="roundRect">
            <a:avLst>
              <a:gd name="adj" fmla="val 7407"/>
            </a:avLst>
          </a:prstGeom>
          <a:solidFill>
            <a:srgbClr val="0E1422"/>
          </a:solidFill>
          <a:ln w="10160">
            <a:solidFill>
              <a:srgbClr val="2430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57016" y="181051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5B9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557016" y="204825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Backoff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57016" y="23865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quota · Retry-After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888736" y="2084832"/>
            <a:ext cx="256032" cy="201168"/>
          </a:xfrm>
          <a:prstGeom prst="chevron">
            <a:avLst/>
          </a:prstGeom>
          <a:solidFill>
            <a:srgbClr val="8272F3">
              <a:alpha val="85000"/>
            </a:srgbClr>
          </a:solidFill>
          <a:ln w="12700">
            <a:solidFill>
              <a:srgbClr val="8272F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2784" y="1700784"/>
            <a:ext cx="2395728" cy="987552"/>
          </a:xfrm>
          <a:prstGeom prst="roundRect">
            <a:avLst>
              <a:gd name="adj" fmla="val 7407"/>
            </a:avLst>
          </a:prstGeom>
          <a:solidFill>
            <a:srgbClr val="0E1422"/>
          </a:solidFill>
          <a:ln w="10160">
            <a:solidFill>
              <a:srgbClr val="2430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9944" y="181051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5B9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09944" y="204825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Answers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9944" y="23865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batch fetch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8741664" y="2084832"/>
            <a:ext cx="256032" cy="201168"/>
          </a:xfrm>
          <a:prstGeom prst="chevron">
            <a:avLst/>
          </a:prstGeom>
          <a:solidFill>
            <a:srgbClr val="8272F3">
              <a:alpha val="85000"/>
            </a:srgbClr>
          </a:solidFill>
          <a:ln w="12700">
            <a:solidFill>
              <a:srgbClr val="8272F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25712" y="1700784"/>
            <a:ext cx="2395728" cy="987552"/>
          </a:xfrm>
          <a:prstGeom prst="roundRect">
            <a:avLst>
              <a:gd name="adj" fmla="val 7407"/>
            </a:avLst>
          </a:prstGeom>
          <a:solidFill>
            <a:srgbClr val="0E1422"/>
          </a:solidFill>
          <a:ln w="10160">
            <a:solidFill>
              <a:srgbClr val="2430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62872" y="181051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5B9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262872" y="204825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HTML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62872" y="23865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parser cleaning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66928" y="3118104"/>
            <a:ext cx="2395728" cy="987552"/>
          </a:xfrm>
          <a:prstGeom prst="roundRect">
            <a:avLst>
              <a:gd name="adj" fmla="val 7407"/>
            </a:avLst>
          </a:prstGeom>
          <a:solidFill>
            <a:srgbClr val="111A2C"/>
          </a:solidFill>
          <a:ln w="10160">
            <a:solidFill>
              <a:srgbClr val="2430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" y="32278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5B9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04088" y="34655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Code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04088" y="380390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fenced blocks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035808" y="3502152"/>
            <a:ext cx="256032" cy="201168"/>
          </a:xfrm>
          <a:prstGeom prst="chevron">
            <a:avLst/>
          </a:prstGeom>
          <a:solidFill>
            <a:srgbClr val="45B9E8">
              <a:alpha val="85000"/>
            </a:srgbClr>
          </a:solidFill>
          <a:ln w="12700">
            <a:solidFill>
              <a:srgbClr val="45B9E8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19856" y="3118104"/>
            <a:ext cx="2395728" cy="987552"/>
          </a:xfrm>
          <a:prstGeom prst="roundRect">
            <a:avLst>
              <a:gd name="adj" fmla="val 7407"/>
            </a:avLst>
          </a:prstGeom>
          <a:solidFill>
            <a:srgbClr val="111A2C"/>
          </a:solidFill>
          <a:ln w="10160">
            <a:solidFill>
              <a:srgbClr val="2430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57016" y="32278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5B9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06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557016" y="34655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Dedup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557016" y="380390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identity + SHA-256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888736" y="3502152"/>
            <a:ext cx="256032" cy="201168"/>
          </a:xfrm>
          <a:prstGeom prst="chevron">
            <a:avLst/>
          </a:prstGeom>
          <a:solidFill>
            <a:srgbClr val="45B9E8">
              <a:alpha val="85000"/>
            </a:srgbClr>
          </a:solidFill>
          <a:ln w="12700">
            <a:solidFill>
              <a:srgbClr val="45B9E8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72784" y="3118104"/>
            <a:ext cx="2395728" cy="987552"/>
          </a:xfrm>
          <a:prstGeom prst="roundRect">
            <a:avLst>
              <a:gd name="adj" fmla="val 7407"/>
            </a:avLst>
          </a:prstGeom>
          <a:solidFill>
            <a:srgbClr val="111A2C"/>
          </a:solidFill>
          <a:ln w="10160">
            <a:solidFill>
              <a:srgbClr val="2430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9944" y="32278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5B9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07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409944" y="34655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Revisions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09944" y="380390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content changes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8741664" y="3502152"/>
            <a:ext cx="256032" cy="201168"/>
          </a:xfrm>
          <a:prstGeom prst="chevron">
            <a:avLst/>
          </a:prstGeom>
          <a:solidFill>
            <a:srgbClr val="45B9E8">
              <a:alpha val="85000"/>
            </a:srgbClr>
          </a:solidFill>
          <a:ln w="12700">
            <a:solidFill>
              <a:srgbClr val="45B9E8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25712" y="3118104"/>
            <a:ext cx="2395728" cy="987552"/>
          </a:xfrm>
          <a:prstGeom prst="roundRect">
            <a:avLst>
              <a:gd name="adj" fmla="val 7407"/>
            </a:avLst>
          </a:prstGeom>
          <a:solidFill>
            <a:srgbClr val="111A2C"/>
          </a:solidFill>
          <a:ln w="10160">
            <a:solidFill>
              <a:srgbClr val="2430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62872" y="32278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5B9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08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9262872" y="34655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Chunking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262872" y="380390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deterministic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66928" y="4800600"/>
            <a:ext cx="11045952" cy="768096"/>
          </a:xfrm>
          <a:prstGeom prst="roundRect">
            <a:avLst>
              <a:gd name="adj" fmla="val 9524"/>
            </a:avLst>
          </a:prstGeom>
          <a:solidFill>
            <a:srgbClr val="10172A"/>
          </a:solidFill>
          <a:ln w="10160">
            <a:solidFill>
              <a:srgbClr val="8272F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2960" y="5047488"/>
            <a:ext cx="960120" cy="274320"/>
          </a:xfrm>
          <a:prstGeom prst="roundRect">
            <a:avLst>
              <a:gd name="adj" fmla="val 26667"/>
            </a:avLst>
          </a:prstGeom>
          <a:solidFill>
            <a:srgbClr val="8272F3">
              <a:alpha val="16000"/>
            </a:srgbClr>
          </a:solidFill>
          <a:ln w="8890">
            <a:solidFill>
              <a:srgbClr val="8272F3">
                <a:alpha val="5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7824" y="5056632"/>
            <a:ext cx="850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8272F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LEASE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1956816" y="5047488"/>
            <a:ext cx="1261872" cy="274320"/>
          </a:xfrm>
          <a:prstGeom prst="roundRect">
            <a:avLst>
              <a:gd name="adj" fmla="val 26667"/>
            </a:avLst>
          </a:prstGeom>
          <a:solidFill>
            <a:srgbClr val="45B9E8">
              <a:alpha val="16000"/>
            </a:srgbClr>
          </a:solidFill>
          <a:ln w="8890">
            <a:solidFill>
              <a:srgbClr val="45B9E8">
                <a:alpha val="55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011680" y="5056632"/>
            <a:ext cx="1152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5B9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HEARTBEAT</a:t>
            </a:r>
            <a:endParaRPr lang="en-US" sz="780" dirty="0"/>
          </a:p>
        </p:txBody>
      </p:sp>
      <p:sp>
        <p:nvSpPr>
          <p:cNvPr id="50" name="Shape 48"/>
          <p:cNvSpPr/>
          <p:nvPr/>
        </p:nvSpPr>
        <p:spPr>
          <a:xfrm>
            <a:off x="3383280" y="5047488"/>
            <a:ext cx="1298448" cy="274320"/>
          </a:xfrm>
          <a:prstGeom prst="roundRect">
            <a:avLst>
              <a:gd name="adj" fmla="val 26667"/>
            </a:avLst>
          </a:prstGeom>
          <a:solidFill>
            <a:srgbClr val="38D39F">
              <a:alpha val="16000"/>
            </a:srgbClr>
          </a:solidFill>
          <a:ln w="8890">
            <a:solidFill>
              <a:srgbClr val="38D39F">
                <a:alpha val="55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38144" y="5056632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38D39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CHECKPOINT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4846320" y="5047488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F6C85F">
              <a:alpha val="16000"/>
            </a:srgbClr>
          </a:solidFill>
          <a:ln w="8890">
            <a:solidFill>
              <a:srgbClr val="F6C85F">
                <a:alpha val="55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01184" y="5056632"/>
            <a:ext cx="896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6C85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CANCEL</a:t>
            </a:r>
            <a:endParaRPr lang="en-US" sz="780" dirty="0"/>
          </a:p>
        </p:txBody>
      </p:sp>
      <p:sp>
        <p:nvSpPr>
          <p:cNvPr id="54" name="Shape 52"/>
          <p:cNvSpPr/>
          <p:nvPr/>
        </p:nvSpPr>
        <p:spPr>
          <a:xfrm>
            <a:off x="6016752" y="5047488"/>
            <a:ext cx="877824" cy="274320"/>
          </a:xfrm>
          <a:prstGeom prst="roundRect">
            <a:avLst>
              <a:gd name="adj" fmla="val 26667"/>
            </a:avLst>
          </a:prstGeom>
          <a:solidFill>
            <a:srgbClr val="F0747C">
              <a:alpha val="16000"/>
            </a:srgbClr>
          </a:solidFill>
          <a:ln w="8890">
            <a:solidFill>
              <a:srgbClr val="F0747C">
                <a:alpha val="55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071616" y="5056632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0747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RETRY</a:t>
            </a:r>
            <a:endParaRPr lang="en-US" sz="780" dirty="0"/>
          </a:p>
        </p:txBody>
      </p:sp>
      <p:sp>
        <p:nvSpPr>
          <p:cNvPr id="56" name="Text 54"/>
          <p:cNvSpPr/>
          <p:nvPr/>
        </p:nvSpPr>
        <p:spPr>
          <a:xfrm>
            <a:off x="7150608" y="498348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resume с page + itemOffset · network вне DB transaction · failure isolation по thread</a:t>
            </a:r>
            <a:endParaRPr lang="en-US" sz="860" dirty="0"/>
          </a:p>
        </p:txBody>
      </p:sp>
      <p:sp>
        <p:nvSpPr>
          <p:cNvPr id="57" name="Shape 55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8890">
            <a:solidFill>
              <a:srgbClr val="2430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1208" y="6492240"/>
            <a:ext cx="9966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973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Данные: docs/stage5-ingestion.md · docs/stackexchange-client.md · docs/chunking.md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7386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272F3"/>
          </a:solidFill>
          <a:ln w="12700">
            <a:solidFill>
              <a:srgbClr val="8272F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45B9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ERD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PostgreSQL: пять связанных контуров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100584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Ключевые таблицы из migrations 0001–0006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692640" y="31089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PyAnswer  /  06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66928" y="1627632"/>
            <a:ext cx="2057400" cy="1572768"/>
          </a:xfrm>
          <a:prstGeom prst="roundRect">
            <a:avLst>
              <a:gd name="adj" fmla="val 4651"/>
            </a:avLst>
          </a:prstGeom>
          <a:solidFill>
            <a:srgbClr val="111A2C"/>
          </a:solidFill>
          <a:ln w="15240">
            <a:solidFill>
              <a:srgbClr val="45B9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1746504"/>
            <a:ext cx="183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5B9E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IDENTITY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76656" y="2048256"/>
            <a:ext cx="183794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roles · permissions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users · sessions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user_preferences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2834640" y="1499616"/>
            <a:ext cx="2331720" cy="1828800"/>
          </a:xfrm>
          <a:prstGeom prst="roundRect">
            <a:avLst>
              <a:gd name="adj" fmla="val 4000"/>
            </a:avLst>
          </a:prstGeom>
          <a:solidFill>
            <a:srgbClr val="111A2C"/>
          </a:solidFill>
          <a:ln w="15240">
            <a:solidFill>
              <a:srgbClr val="38D39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44368" y="1618488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8D39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CORPUS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44368" y="1920240"/>
            <a:ext cx="211226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sources · documents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answers · tags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revisions · chunks</a:t>
            </a: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5394960" y="1627632"/>
            <a:ext cx="2212848" cy="1572768"/>
          </a:xfrm>
          <a:prstGeom prst="roundRect">
            <a:avLst>
              <a:gd name="adj" fmla="val 4651"/>
            </a:avLst>
          </a:prstGeom>
          <a:solidFill>
            <a:srgbClr val="111A2C"/>
          </a:solidFill>
          <a:ln w="15240">
            <a:solidFill>
              <a:srgbClr val="F6C8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04688" y="1746504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6C85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04688" y="2048256"/>
            <a:ext cx="199339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jobs · job_events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worker_instances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failures · audit_events</a:t>
            </a:r>
            <a:endParaRPr lang="en-US" sz="730" dirty="0"/>
          </a:p>
        </p:txBody>
      </p:sp>
      <p:sp>
        <p:nvSpPr>
          <p:cNvPr id="16" name="Shape 14"/>
          <p:cNvSpPr/>
          <p:nvPr/>
        </p:nvSpPr>
        <p:spPr>
          <a:xfrm>
            <a:off x="7827264" y="1627632"/>
            <a:ext cx="2057400" cy="1572768"/>
          </a:xfrm>
          <a:prstGeom prst="roundRect">
            <a:avLst>
              <a:gd name="adj" fmla="val 4651"/>
            </a:avLst>
          </a:prstGeom>
          <a:solidFill>
            <a:srgbClr val="111A2C"/>
          </a:solidFill>
          <a:ln w="15240">
            <a:solidFill>
              <a:srgbClr val="8272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36992" y="1746504"/>
            <a:ext cx="183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272F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SEARCH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936992" y="2048256"/>
            <a:ext cx="183794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search_index_versions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search_index_entries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search_runs</a:t>
            </a:r>
            <a:endParaRPr lang="en-US" sz="730" dirty="0"/>
          </a:p>
        </p:txBody>
      </p:sp>
      <p:sp>
        <p:nvSpPr>
          <p:cNvPr id="19" name="Shape 17"/>
          <p:cNvSpPr/>
          <p:nvPr/>
        </p:nvSpPr>
        <p:spPr>
          <a:xfrm>
            <a:off x="10104120" y="1627632"/>
            <a:ext cx="1572768" cy="1572768"/>
          </a:xfrm>
          <a:prstGeom prst="roundRect">
            <a:avLst>
              <a:gd name="adj" fmla="val 4651"/>
            </a:avLst>
          </a:prstGeom>
          <a:solidFill>
            <a:srgbClr val="111A2C"/>
          </a:solidFill>
          <a:ln w="15240">
            <a:solidFill>
              <a:srgbClr val="F074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13848" y="174650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74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RAG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213848" y="2048256"/>
            <a:ext cx="13533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rag_responses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rag_response_sources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feedback · history</a:t>
            </a:r>
            <a:endParaRPr lang="en-US" sz="730" dirty="0"/>
          </a:p>
        </p:txBody>
      </p:sp>
      <p:sp>
        <p:nvSpPr>
          <p:cNvPr id="22" name="Shape 20"/>
          <p:cNvSpPr/>
          <p:nvPr/>
        </p:nvSpPr>
        <p:spPr>
          <a:xfrm>
            <a:off x="2633472" y="2286000"/>
            <a:ext cx="182880" cy="201168"/>
          </a:xfrm>
          <a:prstGeom prst="chevron">
            <a:avLst/>
          </a:prstGeom>
          <a:solidFill>
            <a:srgbClr val="697386">
              <a:alpha val="85000"/>
            </a:srgbClr>
          </a:solidFill>
          <a:ln w="12700">
            <a:solidFill>
              <a:srgbClr val="697386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84648" y="2286000"/>
            <a:ext cx="182880" cy="201168"/>
          </a:xfrm>
          <a:prstGeom prst="chevron">
            <a:avLst/>
          </a:prstGeom>
          <a:solidFill>
            <a:srgbClr val="697386">
              <a:alpha val="85000"/>
            </a:srgbClr>
          </a:solidFill>
          <a:ln w="12700">
            <a:solidFill>
              <a:srgbClr val="697386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26096" y="2286000"/>
            <a:ext cx="182880" cy="201168"/>
          </a:xfrm>
          <a:prstGeom prst="chevron">
            <a:avLst/>
          </a:prstGeom>
          <a:solidFill>
            <a:srgbClr val="697386">
              <a:alpha val="85000"/>
            </a:srgbClr>
          </a:solidFill>
          <a:ln w="12700">
            <a:solidFill>
              <a:srgbClr val="697386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902952" y="2286000"/>
            <a:ext cx="182880" cy="201168"/>
          </a:xfrm>
          <a:prstGeom prst="chevron">
            <a:avLst/>
          </a:prstGeom>
          <a:solidFill>
            <a:srgbClr val="697386">
              <a:alpha val="85000"/>
            </a:srgbClr>
          </a:solidFill>
          <a:ln w="12700">
            <a:solidFill>
              <a:srgbClr val="697386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78992" y="3931920"/>
            <a:ext cx="10040112" cy="1444752"/>
          </a:xfrm>
          <a:prstGeom prst="roundRect">
            <a:avLst>
              <a:gd name="adj" fmla="val 5063"/>
            </a:avLst>
          </a:prstGeom>
          <a:solidFill>
            <a:srgbClr val="111A2C"/>
          </a:solidFill>
          <a:ln w="10160">
            <a:solidFill>
              <a:srgbClr val="2430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07592" y="42245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sources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1655064" y="4535424"/>
            <a:ext cx="859536" cy="274320"/>
          </a:xfrm>
          <a:prstGeom prst="roundRect">
            <a:avLst>
              <a:gd name="adj" fmla="val 26667"/>
            </a:avLst>
          </a:prstGeom>
          <a:solidFill>
            <a:srgbClr val="45B9E8">
              <a:alpha val="16000"/>
            </a:srgbClr>
          </a:solidFill>
          <a:ln w="8890">
            <a:solidFill>
              <a:srgbClr val="45B9E8">
                <a:alpha val="5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09928" y="4544568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5B9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 → N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1307592" y="49194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F5F7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documents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3227832" y="42245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documents</a:t>
            </a:r>
            <a:endParaRPr lang="en-US" sz="840" dirty="0"/>
          </a:p>
        </p:txBody>
      </p:sp>
      <p:sp>
        <p:nvSpPr>
          <p:cNvPr id="32" name="Shape 30"/>
          <p:cNvSpPr/>
          <p:nvPr/>
        </p:nvSpPr>
        <p:spPr>
          <a:xfrm>
            <a:off x="3575304" y="4535424"/>
            <a:ext cx="859536" cy="274320"/>
          </a:xfrm>
          <a:prstGeom prst="roundRect">
            <a:avLst>
              <a:gd name="adj" fmla="val 26667"/>
            </a:avLst>
          </a:prstGeom>
          <a:solidFill>
            <a:srgbClr val="45B9E8">
              <a:alpha val="16000"/>
            </a:srgbClr>
          </a:solidFill>
          <a:ln w="8890">
            <a:solidFill>
              <a:srgbClr val="45B9E8">
                <a:alpha val="5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30168" y="4544568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5B9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 → N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3227832" y="49194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F5F7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answers / chunks</a:t>
            </a:r>
            <a:endParaRPr lang="en-US" sz="840" dirty="0"/>
          </a:p>
        </p:txBody>
      </p:sp>
      <p:sp>
        <p:nvSpPr>
          <p:cNvPr id="35" name="Text 33"/>
          <p:cNvSpPr/>
          <p:nvPr/>
        </p:nvSpPr>
        <p:spPr>
          <a:xfrm>
            <a:off x="5148072" y="42245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users</a:t>
            </a:r>
            <a:endParaRPr lang="en-US" sz="840" dirty="0"/>
          </a:p>
        </p:txBody>
      </p:sp>
      <p:sp>
        <p:nvSpPr>
          <p:cNvPr id="36" name="Shape 34"/>
          <p:cNvSpPr/>
          <p:nvPr/>
        </p:nvSpPr>
        <p:spPr>
          <a:xfrm>
            <a:off x="5495544" y="4535424"/>
            <a:ext cx="859536" cy="274320"/>
          </a:xfrm>
          <a:prstGeom prst="roundRect">
            <a:avLst>
              <a:gd name="adj" fmla="val 26667"/>
            </a:avLst>
          </a:prstGeom>
          <a:solidFill>
            <a:srgbClr val="45B9E8">
              <a:alpha val="16000"/>
            </a:srgbClr>
          </a:solidFill>
          <a:ln w="8890">
            <a:solidFill>
              <a:srgbClr val="45B9E8">
                <a:alpha val="5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50408" y="4544568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5B9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 → N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5148072" y="49194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F5F7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jobs / audit</a:t>
            </a:r>
            <a:endParaRPr lang="en-US" sz="840" dirty="0"/>
          </a:p>
        </p:txBody>
      </p:sp>
      <p:sp>
        <p:nvSpPr>
          <p:cNvPr id="39" name="Text 37"/>
          <p:cNvSpPr/>
          <p:nvPr/>
        </p:nvSpPr>
        <p:spPr>
          <a:xfrm>
            <a:off x="7068312" y="42245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chunks</a:t>
            </a:r>
            <a:endParaRPr lang="en-US" sz="840" dirty="0"/>
          </a:p>
        </p:txBody>
      </p:sp>
      <p:sp>
        <p:nvSpPr>
          <p:cNvPr id="40" name="Shape 38"/>
          <p:cNvSpPr/>
          <p:nvPr/>
        </p:nvSpPr>
        <p:spPr>
          <a:xfrm>
            <a:off x="7415784" y="4535424"/>
            <a:ext cx="859536" cy="274320"/>
          </a:xfrm>
          <a:prstGeom prst="roundRect">
            <a:avLst>
              <a:gd name="adj" fmla="val 26667"/>
            </a:avLst>
          </a:prstGeom>
          <a:solidFill>
            <a:srgbClr val="45B9E8">
              <a:alpha val="16000"/>
            </a:srgbClr>
          </a:solidFill>
          <a:ln w="8890">
            <a:solidFill>
              <a:srgbClr val="45B9E8">
                <a:alpha val="5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70648" y="4544568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5B9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 → 1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7068312" y="49194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F5F7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index entries</a:t>
            </a:r>
            <a:endParaRPr lang="en-US" sz="840" dirty="0"/>
          </a:p>
        </p:txBody>
      </p:sp>
      <p:sp>
        <p:nvSpPr>
          <p:cNvPr id="43" name="Text 41"/>
          <p:cNvSpPr/>
          <p:nvPr/>
        </p:nvSpPr>
        <p:spPr>
          <a:xfrm>
            <a:off x="8988552" y="42245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rag responses</a:t>
            </a:r>
            <a:endParaRPr lang="en-US" sz="840" dirty="0"/>
          </a:p>
        </p:txBody>
      </p:sp>
      <p:sp>
        <p:nvSpPr>
          <p:cNvPr id="44" name="Shape 42"/>
          <p:cNvSpPr/>
          <p:nvPr/>
        </p:nvSpPr>
        <p:spPr>
          <a:xfrm>
            <a:off x="9336024" y="4535424"/>
            <a:ext cx="859536" cy="274320"/>
          </a:xfrm>
          <a:prstGeom prst="roundRect">
            <a:avLst>
              <a:gd name="adj" fmla="val 26667"/>
            </a:avLst>
          </a:prstGeom>
          <a:solidFill>
            <a:srgbClr val="F0747C">
              <a:alpha val="16000"/>
            </a:srgbClr>
          </a:solidFill>
          <a:ln w="8890">
            <a:solidFill>
              <a:srgbClr val="F0747C">
                <a:alpha val="5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90888" y="4544568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0747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 → N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8988552" y="49194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F5F7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cited sources</a:t>
            </a:r>
            <a:endParaRPr lang="en-US" sz="840" dirty="0"/>
          </a:p>
        </p:txBody>
      </p:sp>
      <p:sp>
        <p:nvSpPr>
          <p:cNvPr id="47" name="Text 45"/>
          <p:cNvSpPr/>
          <p:nvPr/>
        </p:nvSpPr>
        <p:spPr>
          <a:xfrm>
            <a:off x="2331720" y="56509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973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UUID PK · FK · UNIQUE · PostgreSQL ENUM · JSONB checkpoints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8890">
            <a:solidFill>
              <a:srgbClr val="2430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1208" y="6492240"/>
            <a:ext cx="9966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973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Данные: docs/erd.md · backend/alembic/versions/20260716_0001…0006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7386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272F3"/>
          </a:solidFill>
          <a:ln w="12700">
            <a:solidFill>
              <a:srgbClr val="8272F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45B9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RETRIEVAL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Два индекса — одна версия выдачи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100584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Sparse BM25 + dense cosine HNSW в Qdrant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692640" y="31089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PyAnswer  /  07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3438144" cy="2194560"/>
          </a:xfrm>
          <a:prstGeom prst="roundRect">
            <a:avLst>
              <a:gd name="adj" fmla="val 3333"/>
            </a:avLst>
          </a:prstGeom>
          <a:solidFill>
            <a:srgbClr val="111A2C"/>
          </a:solidFill>
          <a:ln w="10160">
            <a:solidFill>
              <a:srgbClr val="45B9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1810512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45B9E8">
              <a:alpha val="16000"/>
            </a:srgbClr>
          </a:solidFill>
          <a:ln w="8890">
            <a:solidFill>
              <a:srgbClr val="45B9E8">
                <a:alpha val="5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819656"/>
            <a:ext cx="896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5B9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SPARSE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804672" y="22128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5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BM25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804672" y="2816352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точные имена · ошибки · API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Qdrant sparse vector + IDF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70832" y="1572768"/>
            <a:ext cx="3438144" cy="2194560"/>
          </a:xfrm>
          <a:prstGeom prst="roundRect">
            <a:avLst>
              <a:gd name="adj" fmla="val 3333"/>
            </a:avLst>
          </a:prstGeom>
          <a:solidFill>
            <a:srgbClr val="111A2C"/>
          </a:solidFill>
          <a:ln w="10160">
            <a:solidFill>
              <a:srgbClr val="8272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8576" y="1810512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8272F3">
              <a:alpha val="16000"/>
            </a:srgbClr>
          </a:solidFill>
          <a:ln w="8890">
            <a:solidFill>
              <a:srgbClr val="8272F3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819656"/>
            <a:ext cx="896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8272F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DENSE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4608576" y="22128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5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HNSW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4608576" y="2816352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семантические перефразы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cosine · 1024 dims · m=16 · ef=100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74736" y="1572768"/>
            <a:ext cx="3438144" cy="2194560"/>
          </a:xfrm>
          <a:prstGeom prst="roundRect">
            <a:avLst>
              <a:gd name="adj" fmla="val 3333"/>
            </a:avLst>
          </a:prstGeom>
          <a:solidFill>
            <a:srgbClr val="111A2C"/>
          </a:solidFill>
          <a:ln w="10160">
            <a:solidFill>
              <a:srgbClr val="38D39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0" y="1810512"/>
            <a:ext cx="1060704" cy="274320"/>
          </a:xfrm>
          <a:prstGeom prst="roundRect">
            <a:avLst>
              <a:gd name="adj" fmla="val 26667"/>
            </a:avLst>
          </a:prstGeom>
          <a:solidFill>
            <a:srgbClr val="38D39F">
              <a:alpha val="16000"/>
            </a:srgbClr>
          </a:solidFill>
          <a:ln w="8890">
            <a:solidFill>
              <a:srgbClr val="38D39F">
                <a:alpha val="5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67344" y="1819656"/>
            <a:ext cx="950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38D39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ACTIVE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8412480" y="22128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8D39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25 214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8412480" y="2816352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Qdrant points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= indexable chunks · consistency PASS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" y="42245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5B9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BLUE–GREEN PUBLISH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011680" y="406908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111A2C"/>
          </a:solidFill>
          <a:ln w="15240">
            <a:solidFill>
              <a:srgbClr val="8272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21408" y="4187952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272F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build_N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121408" y="4489704"/>
            <a:ext cx="16093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новая collection</a:t>
            </a:r>
            <a:endParaRPr lang="en-US" sz="730" dirty="0"/>
          </a:p>
        </p:txBody>
      </p:sp>
      <p:sp>
        <p:nvSpPr>
          <p:cNvPr id="26" name="Shape 24"/>
          <p:cNvSpPr/>
          <p:nvPr/>
        </p:nvSpPr>
        <p:spPr>
          <a:xfrm>
            <a:off x="3977640" y="4407408"/>
            <a:ext cx="411480" cy="201168"/>
          </a:xfrm>
          <a:prstGeom prst="chevron">
            <a:avLst/>
          </a:prstGeom>
          <a:solidFill>
            <a:srgbClr val="697386">
              <a:alpha val="85000"/>
            </a:srgbClr>
          </a:solidFill>
          <a:ln w="12700">
            <a:solidFill>
              <a:srgbClr val="697386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26280" y="4069080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111A2C"/>
          </a:solidFill>
          <a:ln w="15240">
            <a:solidFill>
              <a:srgbClr val="45B9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36008" y="4187952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5B9E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consistency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36008" y="4489704"/>
            <a:ext cx="18653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schema · points · payload</a:t>
            </a:r>
            <a:endParaRPr lang="en-US" sz="730" dirty="0"/>
          </a:p>
        </p:txBody>
      </p:sp>
      <p:sp>
        <p:nvSpPr>
          <p:cNvPr id="30" name="Shape 28"/>
          <p:cNvSpPr/>
          <p:nvPr/>
        </p:nvSpPr>
        <p:spPr>
          <a:xfrm>
            <a:off x="6748272" y="4407408"/>
            <a:ext cx="411480" cy="201168"/>
          </a:xfrm>
          <a:prstGeom prst="chevron">
            <a:avLst/>
          </a:prstGeom>
          <a:solidFill>
            <a:srgbClr val="697386">
              <a:alpha val="85000"/>
            </a:srgbClr>
          </a:solidFill>
          <a:ln w="12700">
            <a:solidFill>
              <a:srgbClr val="697386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96912" y="4069080"/>
            <a:ext cx="2029968" cy="868680"/>
          </a:xfrm>
          <a:prstGeom prst="roundRect">
            <a:avLst>
              <a:gd name="adj" fmla="val 8421"/>
            </a:avLst>
          </a:prstGeom>
          <a:solidFill>
            <a:srgbClr val="111A2C"/>
          </a:solidFill>
          <a:ln w="15240">
            <a:solidFill>
              <a:srgbClr val="38D39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06640" y="4187952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8D39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alias switch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06640" y="4489704"/>
            <a:ext cx="18105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pyanswer_chunks_current</a:t>
            </a:r>
            <a:endParaRPr lang="en-US" sz="730" dirty="0"/>
          </a:p>
        </p:txBody>
      </p:sp>
      <p:sp>
        <p:nvSpPr>
          <p:cNvPr id="34" name="Shape 32"/>
          <p:cNvSpPr/>
          <p:nvPr/>
        </p:nvSpPr>
        <p:spPr>
          <a:xfrm>
            <a:off x="9464040" y="4407408"/>
            <a:ext cx="411480" cy="201168"/>
          </a:xfrm>
          <a:prstGeom prst="chevron">
            <a:avLst/>
          </a:prstGeom>
          <a:solidFill>
            <a:srgbClr val="697386">
              <a:alpha val="85000"/>
            </a:srgbClr>
          </a:solidFill>
          <a:ln w="12700">
            <a:solidFill>
              <a:srgbClr val="697386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012680" y="406908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111A2C"/>
          </a:solidFill>
          <a:ln w="15240">
            <a:solidFill>
              <a:srgbClr val="99A4B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122408" y="418795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retire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122408" y="4489704"/>
            <a:ext cx="13350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предыдущая версия</a:t>
            </a:r>
            <a:endParaRPr lang="en-US" sz="730" dirty="0"/>
          </a:p>
        </p:txBody>
      </p:sp>
      <p:sp>
        <p:nvSpPr>
          <p:cNvPr id="38" name="Shape 36"/>
          <p:cNvSpPr/>
          <p:nvPr/>
        </p:nvSpPr>
        <p:spPr>
          <a:xfrm>
            <a:off x="2331720" y="5376672"/>
            <a:ext cx="7525512" cy="502920"/>
          </a:xfrm>
          <a:prstGeom prst="roundRect">
            <a:avLst>
              <a:gd name="adj" fmla="val 14545"/>
            </a:avLst>
          </a:prstGeom>
          <a:solidFill>
            <a:srgbClr val="0E1422"/>
          </a:solidFill>
          <a:ln w="10160">
            <a:solidFill>
              <a:srgbClr val="2430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42032" y="5522976"/>
            <a:ext cx="7114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qwen3-embedding:0.6b  ·  Qdrant 1.18.2  ·  index schema 6.1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8890">
            <a:solidFill>
              <a:srgbClr val="2430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1208" y="6492240"/>
            <a:ext cx="9966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973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Данные: Qdrant live collection · artifacts/index-consistency-report.json · docs/qdrant-schema.md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7386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272F3"/>
          </a:solidFill>
          <a:ln w="12700">
            <a:solidFill>
              <a:srgbClr val="8272F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45B9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RANKING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Hybrid + локальный reranker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100584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Разные шкалы score объединяются по rank, а не прямой суммой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692640" y="31089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PyAnswer  /  08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30352" y="1554480"/>
            <a:ext cx="3767328" cy="1078992"/>
          </a:xfrm>
          <a:prstGeom prst="roundRect">
            <a:avLst>
              <a:gd name="adj" fmla="val 6780"/>
            </a:avLst>
          </a:prstGeom>
          <a:solidFill>
            <a:srgbClr val="111A2C"/>
          </a:solidFill>
          <a:ln w="10160">
            <a:solidFill>
              <a:srgbClr val="8272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81051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RRF(d) = wᵦ/(k + rankᵦ) + wᵥ/(k + rankᵥ)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222199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k = 60 · wᵦ = 1 · wᵥ = 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30352" y="2834640"/>
            <a:ext cx="3767328" cy="1078992"/>
          </a:xfrm>
          <a:prstGeom prst="roundRect">
            <a:avLst>
              <a:gd name="adj" fmla="val 6780"/>
            </a:avLst>
          </a:prstGeom>
          <a:solidFill>
            <a:srgbClr val="111A2C"/>
          </a:solidFill>
          <a:ln w="10160">
            <a:solidFill>
              <a:srgbClr val="F074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09981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747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final = 0.85 × reranker + 0.15 × fusionₙ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" y="3511296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Qwen/Qwen3-Reranker-0.6B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566928" y="4251960"/>
            <a:ext cx="1591056" cy="274320"/>
          </a:xfrm>
          <a:prstGeom prst="roundRect">
            <a:avLst>
              <a:gd name="adj" fmla="val 26667"/>
            </a:avLst>
          </a:prstGeom>
          <a:solidFill>
            <a:srgbClr val="45B9E8">
              <a:alpha val="16000"/>
            </a:srgbClr>
          </a:solidFill>
          <a:ln w="8890">
            <a:solidFill>
              <a:srgbClr val="45B9E8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4261104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5B9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BM25 60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2377440" y="4251960"/>
            <a:ext cx="1591056" cy="274320"/>
          </a:xfrm>
          <a:prstGeom prst="roundRect">
            <a:avLst>
              <a:gd name="adj" fmla="val 26667"/>
            </a:avLst>
          </a:prstGeom>
          <a:solidFill>
            <a:srgbClr val="45B9E8">
              <a:alpha val="16000"/>
            </a:srgbClr>
          </a:solidFill>
          <a:ln w="8890">
            <a:solidFill>
              <a:srgbClr val="45B9E8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32304" y="4261104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5B9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Vector 60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566928" y="4672584"/>
            <a:ext cx="1591056" cy="274320"/>
          </a:xfrm>
          <a:prstGeom prst="roundRect">
            <a:avLst>
              <a:gd name="adj" fmla="val 26667"/>
            </a:avLst>
          </a:prstGeom>
          <a:solidFill>
            <a:srgbClr val="8272F3">
              <a:alpha val="16000"/>
            </a:srgbClr>
          </a:solidFill>
          <a:ln w="8890">
            <a:solidFill>
              <a:srgbClr val="8272F3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4681728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8272F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RRF candidates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2377440" y="4672584"/>
            <a:ext cx="1591056" cy="274320"/>
          </a:xfrm>
          <a:prstGeom prst="roundRect">
            <a:avLst>
              <a:gd name="adj" fmla="val 26667"/>
            </a:avLst>
          </a:prstGeom>
          <a:solidFill>
            <a:srgbClr val="8272F3">
              <a:alpha val="16000"/>
            </a:srgbClr>
          </a:solidFill>
          <a:ln w="8890">
            <a:solidFill>
              <a:srgbClr val="8272F3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32304" y="4681728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8272F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Rerank top 8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566928" y="5093208"/>
            <a:ext cx="3383280" cy="274320"/>
          </a:xfrm>
          <a:prstGeom prst="roundRect">
            <a:avLst>
              <a:gd name="adj" fmla="val 26667"/>
            </a:avLst>
          </a:prstGeom>
          <a:solidFill>
            <a:srgbClr val="38D39F">
              <a:alpha val="16000"/>
            </a:srgbClr>
          </a:solidFill>
          <a:ln w="8890">
            <a:solidFill>
              <a:srgbClr val="38D39F">
                <a:alpha val="5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5102352"/>
            <a:ext cx="3273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38D39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Final top-N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4535424" y="1527048"/>
            <a:ext cx="7132320" cy="4773168"/>
          </a:xfrm>
          <a:prstGeom prst="roundRect">
            <a:avLst>
              <a:gd name="adj" fmla="val 1533"/>
            </a:avLst>
          </a:prstGeom>
          <a:solidFill>
            <a:srgbClr val="090E18"/>
          </a:solidFill>
          <a:ln w="10160">
            <a:solidFill>
              <a:srgbClr val="24304A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pic>
        <p:nvPicPr>
          <p:cNvPr id="24" name="Image 0" descr="Живой Hybrid · BM25 / Vector / Reranker / Final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90288" y="1581912"/>
            <a:ext cx="7022592" cy="444398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4645152" y="6025896"/>
            <a:ext cx="6912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Живой Hybrid · BM25 / Vector / Reranker / Final</a:t>
            </a:r>
            <a:endParaRPr lang="en-US" sz="720" dirty="0"/>
          </a:p>
        </p:txBody>
      </p:sp>
      <p:sp>
        <p:nvSpPr>
          <p:cNvPr id="26" name="Shape 23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8890">
            <a:solidFill>
              <a:srgbClr val="24304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21208" y="6492240"/>
            <a:ext cx="9966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973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Данные: docs/hybrid-ranking.md · compose.yaml · живой /api/search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7386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272F3"/>
          </a:solidFill>
          <a:ln w="12700">
            <a:solidFill>
              <a:srgbClr val="8272F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45B9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GENERATION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RAG: retrieval before generation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100584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Streaming SSE · citations · insufficient-context gate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692640" y="31089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PyAnswer  /  09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30352" y="1554480"/>
            <a:ext cx="1481328" cy="758952"/>
          </a:xfrm>
          <a:prstGeom prst="roundRect">
            <a:avLst>
              <a:gd name="adj" fmla="val 9639"/>
            </a:avLst>
          </a:prstGeom>
          <a:solidFill>
            <a:srgbClr val="111A2C"/>
          </a:solidFill>
          <a:ln w="15240">
            <a:solidFill>
              <a:srgbClr val="45B9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73352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5B9E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Retrieve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975104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Hybrid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2039112" y="1837944"/>
            <a:ext cx="256032" cy="201168"/>
          </a:xfrm>
          <a:prstGeom prst="chevron">
            <a:avLst/>
          </a:prstGeom>
          <a:solidFill>
            <a:srgbClr val="697386">
              <a:alpha val="85000"/>
            </a:srgbClr>
          </a:solidFill>
          <a:ln w="12700">
            <a:solidFill>
              <a:srgbClr val="69738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40864" y="1554480"/>
            <a:ext cx="1481328" cy="758952"/>
          </a:xfrm>
          <a:prstGeom prst="roundRect">
            <a:avLst>
              <a:gd name="adj" fmla="val 9639"/>
            </a:avLst>
          </a:prstGeom>
          <a:solidFill>
            <a:srgbClr val="111A2C"/>
          </a:solidFill>
          <a:ln w="15240">
            <a:solidFill>
              <a:srgbClr val="45B9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1673352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5B9E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Rerank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50592" y="1975104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top 8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3849624" y="1837944"/>
            <a:ext cx="256032" cy="201168"/>
          </a:xfrm>
          <a:prstGeom prst="chevron">
            <a:avLst/>
          </a:prstGeom>
          <a:solidFill>
            <a:srgbClr val="697386">
              <a:alpha val="85000"/>
            </a:srgbClr>
          </a:solidFill>
          <a:ln w="12700">
            <a:solidFill>
              <a:srgbClr val="69738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51376" y="1554480"/>
            <a:ext cx="1481328" cy="758952"/>
          </a:xfrm>
          <a:prstGeom prst="roundRect">
            <a:avLst>
              <a:gd name="adj" fmla="val 9639"/>
            </a:avLst>
          </a:prstGeom>
          <a:solidFill>
            <a:srgbClr val="111A2C"/>
          </a:solidFill>
          <a:ln w="15240">
            <a:solidFill>
              <a:srgbClr val="45B9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61104" y="1673352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5B9E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Context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61104" y="1975104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≤ 5 sources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5660136" y="1837944"/>
            <a:ext cx="256032" cy="201168"/>
          </a:xfrm>
          <a:prstGeom prst="chevron">
            <a:avLst/>
          </a:prstGeom>
          <a:solidFill>
            <a:srgbClr val="697386">
              <a:alpha val="85000"/>
            </a:srgbClr>
          </a:solidFill>
          <a:ln w="12700">
            <a:solidFill>
              <a:srgbClr val="697386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61888" y="1554480"/>
            <a:ext cx="1481328" cy="758952"/>
          </a:xfrm>
          <a:prstGeom prst="roundRect">
            <a:avLst>
              <a:gd name="adj" fmla="val 9639"/>
            </a:avLst>
          </a:prstGeom>
          <a:solidFill>
            <a:srgbClr val="111A2C"/>
          </a:solidFill>
          <a:ln w="15240">
            <a:solidFill>
              <a:srgbClr val="F6C8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71616" y="1673352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6C85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Ollama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71616" y="1975104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qwen3:8b</a:t>
            </a:r>
            <a:endParaRPr lang="en-US" sz="730" dirty="0"/>
          </a:p>
        </p:txBody>
      </p:sp>
      <p:sp>
        <p:nvSpPr>
          <p:cNvPr id="22" name="Shape 20"/>
          <p:cNvSpPr/>
          <p:nvPr/>
        </p:nvSpPr>
        <p:spPr>
          <a:xfrm>
            <a:off x="7470648" y="1837944"/>
            <a:ext cx="256032" cy="201168"/>
          </a:xfrm>
          <a:prstGeom prst="chevron">
            <a:avLst/>
          </a:prstGeom>
          <a:solidFill>
            <a:srgbClr val="697386">
              <a:alpha val="85000"/>
            </a:srgbClr>
          </a:solidFill>
          <a:ln w="12700">
            <a:solidFill>
              <a:srgbClr val="697386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0" y="1554480"/>
            <a:ext cx="1481328" cy="758952"/>
          </a:xfrm>
          <a:prstGeom prst="roundRect">
            <a:avLst>
              <a:gd name="adj" fmla="val 9639"/>
            </a:avLst>
          </a:prstGeom>
          <a:solidFill>
            <a:srgbClr val="111A2C"/>
          </a:solidFill>
          <a:ln w="15240">
            <a:solidFill>
              <a:srgbClr val="38D39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82128" y="1673352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8D39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Validate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882128" y="1975104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citations</a:t>
            </a:r>
            <a:endParaRPr lang="en-US" sz="730" dirty="0"/>
          </a:p>
        </p:txBody>
      </p:sp>
      <p:sp>
        <p:nvSpPr>
          <p:cNvPr id="26" name="Shape 24"/>
          <p:cNvSpPr/>
          <p:nvPr/>
        </p:nvSpPr>
        <p:spPr>
          <a:xfrm>
            <a:off x="5989320" y="2578608"/>
            <a:ext cx="5669280" cy="3849624"/>
          </a:xfrm>
          <a:prstGeom prst="roundRect">
            <a:avLst>
              <a:gd name="adj" fmla="val 1900"/>
            </a:avLst>
          </a:prstGeom>
          <a:solidFill>
            <a:srgbClr val="090E18"/>
          </a:solidFill>
          <a:ln w="10160">
            <a:solidFill>
              <a:srgbClr val="24304A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pic>
        <p:nvPicPr>
          <p:cNvPr id="27" name="Image 0" descr="Готовый RAG-ответ · 3 проверяемых источника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44184" y="2633472"/>
            <a:ext cx="5559552" cy="352044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6099048" y="6153912"/>
            <a:ext cx="5449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Готовый RAG-ответ · 3 проверяемых источника</a:t>
            </a:r>
            <a:endParaRPr lang="en-US" sz="720" dirty="0"/>
          </a:p>
        </p:txBody>
      </p:sp>
      <p:sp>
        <p:nvSpPr>
          <p:cNvPr id="29" name="Shape 26"/>
          <p:cNvSpPr/>
          <p:nvPr/>
        </p:nvSpPr>
        <p:spPr>
          <a:xfrm>
            <a:off x="530352" y="2596896"/>
            <a:ext cx="5120640" cy="2048256"/>
          </a:xfrm>
          <a:prstGeom prst="roundRect">
            <a:avLst>
              <a:gd name="adj" fmla="val 3571"/>
            </a:avLst>
          </a:prstGeom>
          <a:solidFill>
            <a:srgbClr val="111A2C"/>
          </a:solidFill>
          <a:ln w="10160">
            <a:solidFill>
              <a:srgbClr val="24304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31520" y="2816352"/>
            <a:ext cx="2121408" cy="822960"/>
          </a:xfrm>
          <a:prstGeom prst="roundRect">
            <a:avLst>
              <a:gd name="adj" fmla="val 8889"/>
            </a:avLst>
          </a:prstGeom>
          <a:solidFill>
            <a:srgbClr val="111A2C"/>
          </a:solidFill>
          <a:ln w="10160">
            <a:solidFill>
              <a:srgbClr val="24304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77824" y="2926080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8D39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29 026 ms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877824" y="33101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TOTAL · ОДИН РЕАЛЬНЫЙ ЗАПРОС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3017520" y="2816352"/>
            <a:ext cx="1170432" cy="822960"/>
          </a:xfrm>
          <a:prstGeom prst="roundRect">
            <a:avLst>
              <a:gd name="adj" fmla="val 8889"/>
            </a:avLst>
          </a:prstGeom>
          <a:solidFill>
            <a:srgbClr val="111A2C"/>
          </a:solidFill>
          <a:ln w="10160">
            <a:solidFill>
              <a:srgbClr val="24304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163824" y="2926080"/>
            <a:ext cx="8778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5B9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20 961</a:t>
            </a:r>
            <a:endParaRPr lang="en-US" sz="2000" dirty="0"/>
          </a:p>
        </p:txBody>
      </p:sp>
      <p:sp>
        <p:nvSpPr>
          <p:cNvPr id="35" name="Text 32"/>
          <p:cNvSpPr/>
          <p:nvPr/>
        </p:nvSpPr>
        <p:spPr>
          <a:xfrm>
            <a:off x="3163824" y="3310128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SEARCH MS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4343400" y="2816352"/>
            <a:ext cx="1097280" cy="822960"/>
          </a:xfrm>
          <a:prstGeom prst="roundRect">
            <a:avLst>
              <a:gd name="adj" fmla="val 8889"/>
            </a:avLst>
          </a:prstGeom>
          <a:solidFill>
            <a:srgbClr val="111A2C"/>
          </a:solidFill>
          <a:ln w="10160">
            <a:solidFill>
              <a:srgbClr val="24304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489704" y="2926080"/>
            <a:ext cx="8046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6C85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8 033</a:t>
            </a:r>
            <a:endParaRPr lang="en-US" sz="2000" dirty="0"/>
          </a:p>
        </p:txBody>
      </p:sp>
      <p:sp>
        <p:nvSpPr>
          <p:cNvPr id="38" name="Text 35"/>
          <p:cNvSpPr/>
          <p:nvPr/>
        </p:nvSpPr>
        <p:spPr>
          <a:xfrm>
            <a:off x="4489704" y="3310128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GENERATION MS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768096" y="3913632"/>
            <a:ext cx="1581912" cy="274320"/>
          </a:xfrm>
          <a:prstGeom prst="roundRect">
            <a:avLst>
              <a:gd name="adj" fmla="val 26667"/>
            </a:avLst>
          </a:prstGeom>
          <a:solidFill>
            <a:srgbClr val="38D39F">
              <a:alpha val="16000"/>
            </a:srgbClr>
          </a:solidFill>
          <a:ln w="8890">
            <a:solidFill>
              <a:srgbClr val="38D39F">
                <a:alpha val="5500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22960" y="3922776"/>
            <a:ext cx="1472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38D39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confidence 0.976</a:t>
            </a:r>
            <a:endParaRPr lang="en-US" sz="780" dirty="0"/>
          </a:p>
        </p:txBody>
      </p:sp>
      <p:sp>
        <p:nvSpPr>
          <p:cNvPr id="41" name="Shape 38"/>
          <p:cNvSpPr/>
          <p:nvPr/>
        </p:nvSpPr>
        <p:spPr>
          <a:xfrm>
            <a:off x="2523744" y="3913632"/>
            <a:ext cx="1170432" cy="274320"/>
          </a:xfrm>
          <a:prstGeom prst="roundRect">
            <a:avLst>
              <a:gd name="adj" fmla="val 26667"/>
            </a:avLst>
          </a:prstGeom>
          <a:solidFill>
            <a:srgbClr val="45B9E8">
              <a:alpha val="16000"/>
            </a:srgbClr>
          </a:solidFill>
          <a:ln w="8890">
            <a:solidFill>
              <a:srgbClr val="45B9E8">
                <a:alpha val="5500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2578608" y="3922776"/>
            <a:ext cx="10607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5B9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3 sources</a:t>
            </a:r>
            <a:endParaRPr lang="en-US" sz="780" dirty="0"/>
          </a:p>
        </p:txBody>
      </p:sp>
      <p:sp>
        <p:nvSpPr>
          <p:cNvPr id="43" name="Shape 40"/>
          <p:cNvSpPr/>
          <p:nvPr/>
        </p:nvSpPr>
        <p:spPr>
          <a:xfrm>
            <a:off x="3877056" y="3913632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8272F3">
              <a:alpha val="16000"/>
            </a:srgbClr>
          </a:solidFill>
          <a:ln w="8890">
            <a:solidFill>
              <a:srgbClr val="8272F3">
                <a:alpha val="5500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931920" y="3922776"/>
            <a:ext cx="1243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8272F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citations ✓</a:t>
            </a:r>
            <a:endParaRPr lang="en-US" sz="780" dirty="0"/>
          </a:p>
        </p:txBody>
      </p:sp>
      <p:sp>
        <p:nvSpPr>
          <p:cNvPr id="45" name="Shape 42"/>
          <p:cNvSpPr/>
          <p:nvPr/>
        </p:nvSpPr>
        <p:spPr>
          <a:xfrm>
            <a:off x="530352" y="4882896"/>
            <a:ext cx="5120640" cy="896112"/>
          </a:xfrm>
          <a:prstGeom prst="roundRect">
            <a:avLst>
              <a:gd name="adj" fmla="val 8163"/>
            </a:avLst>
          </a:prstGeom>
          <a:solidFill>
            <a:srgbClr val="15131C"/>
          </a:solidFill>
          <a:ln w="10160">
            <a:solidFill>
              <a:srgbClr val="F6C85F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49808" y="5074920"/>
            <a:ext cx="19933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6C85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INSUFFICIENT CONTEXT</a:t>
            </a:r>
            <a:endParaRPr lang="en-US" sz="820" dirty="0"/>
          </a:p>
        </p:txBody>
      </p:sp>
      <p:sp>
        <p:nvSpPr>
          <p:cNvPr id="47" name="Text 44"/>
          <p:cNvSpPr/>
          <p:nvPr/>
        </p:nvSpPr>
        <p:spPr>
          <a:xfrm>
            <a:off x="2743200" y="5010912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мало источников / score → LLM не вызывается</a:t>
            </a:r>
            <a:endParaRPr lang="en-US" sz="910" dirty="0"/>
          </a:p>
        </p:txBody>
      </p:sp>
      <p:sp>
        <p:nvSpPr>
          <p:cNvPr id="48" name="Shape 45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8890">
            <a:solidFill>
              <a:srgbClr val="24304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21208" y="6492240"/>
            <a:ext cx="9966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973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Данные: PostgreSQL rag_responses live query · docs/rag-architecture.md · docs/rag-streaming.md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7386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272F3"/>
          </a:solidFill>
          <a:ln w="12700">
            <a:solidFill>
              <a:srgbClr val="8272F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45B9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FRONTEND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Пользовательский интерфейс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100584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Поиск, документ, профиль и история — один тёмный workspace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692640" y="31089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PyAnswer  /  10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30352" y="1508760"/>
            <a:ext cx="2743200" cy="1207008"/>
          </a:xfrm>
          <a:prstGeom prst="roundRect">
            <a:avLst>
              <a:gd name="adj" fmla="val 6061"/>
            </a:avLst>
          </a:prstGeom>
          <a:solidFill>
            <a:srgbClr val="090E18"/>
          </a:solidFill>
          <a:ln w="10160">
            <a:solidFill>
              <a:srgbClr val="24304A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pic>
        <p:nvPicPr>
          <p:cNvPr id="8" name="Image 0" descr="Главная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5216" y="1563624"/>
            <a:ext cx="2633472" cy="8778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441448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Главная</a:t>
            </a:r>
            <a:endParaRPr lang="en-US" sz="720" dirty="0"/>
          </a:p>
        </p:txBody>
      </p:sp>
      <p:sp>
        <p:nvSpPr>
          <p:cNvPr id="10" name="Shape 7"/>
          <p:cNvSpPr/>
          <p:nvPr/>
        </p:nvSpPr>
        <p:spPr>
          <a:xfrm>
            <a:off x="3493008" y="1508760"/>
            <a:ext cx="4023360" cy="2825496"/>
          </a:xfrm>
          <a:prstGeom prst="roundRect">
            <a:avLst>
              <a:gd name="adj" fmla="val 2589"/>
            </a:avLst>
          </a:prstGeom>
          <a:solidFill>
            <a:srgbClr val="090E18"/>
          </a:solidFill>
          <a:ln w="10160">
            <a:solidFill>
              <a:srgbClr val="24304A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pic>
        <p:nvPicPr>
          <p:cNvPr id="11" name="Image 1" descr="BM25 search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547872" y="1563624"/>
            <a:ext cx="3913632" cy="2496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02736" y="4059936"/>
            <a:ext cx="3803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BM25 search</a:t>
            </a:r>
            <a:endParaRPr lang="en-US" sz="720" dirty="0"/>
          </a:p>
        </p:txBody>
      </p:sp>
      <p:sp>
        <p:nvSpPr>
          <p:cNvPr id="13" name="Shape 9"/>
          <p:cNvSpPr/>
          <p:nvPr/>
        </p:nvSpPr>
        <p:spPr>
          <a:xfrm>
            <a:off x="530352" y="3730752"/>
            <a:ext cx="3493008" cy="2487168"/>
          </a:xfrm>
          <a:prstGeom prst="roundRect">
            <a:avLst>
              <a:gd name="adj" fmla="val 2941"/>
            </a:avLst>
          </a:prstGeom>
          <a:solidFill>
            <a:srgbClr val="090E18"/>
          </a:solidFill>
          <a:ln w="10160">
            <a:solidFill>
              <a:srgbClr val="24304A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pic>
        <p:nvPicPr>
          <p:cNvPr id="14" name="Image 2" descr="Страница документа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85216" y="3785616"/>
            <a:ext cx="3383280" cy="21579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0080" y="5943600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Страница документа</a:t>
            </a:r>
            <a:endParaRPr lang="en-US" sz="720" dirty="0"/>
          </a:p>
        </p:txBody>
      </p:sp>
      <p:sp>
        <p:nvSpPr>
          <p:cNvPr id="16" name="Shape 11"/>
          <p:cNvSpPr/>
          <p:nvPr/>
        </p:nvSpPr>
        <p:spPr>
          <a:xfrm>
            <a:off x="4242816" y="3730752"/>
            <a:ext cx="3273552" cy="2487168"/>
          </a:xfrm>
          <a:prstGeom prst="roundRect">
            <a:avLst>
              <a:gd name="adj" fmla="val 2941"/>
            </a:avLst>
          </a:prstGeom>
          <a:solidFill>
            <a:srgbClr val="090E18"/>
          </a:solidFill>
          <a:ln w="10160">
            <a:solidFill>
              <a:srgbClr val="24304A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pic>
        <p:nvPicPr>
          <p:cNvPr id="17" name="Image 3" descr="Профиль USE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297680" y="3785616"/>
            <a:ext cx="3163824" cy="21579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352544" y="5943600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Профиль USER</a:t>
            </a:r>
            <a:endParaRPr lang="en-US" sz="720" dirty="0"/>
          </a:p>
        </p:txBody>
      </p:sp>
      <p:sp>
        <p:nvSpPr>
          <p:cNvPr id="19" name="Shape 13"/>
          <p:cNvSpPr/>
          <p:nvPr/>
        </p:nvSpPr>
        <p:spPr>
          <a:xfrm>
            <a:off x="7818120" y="1508760"/>
            <a:ext cx="3840480" cy="4398264"/>
          </a:xfrm>
          <a:prstGeom prst="roundRect">
            <a:avLst>
              <a:gd name="adj" fmla="val 1905"/>
            </a:avLst>
          </a:prstGeom>
          <a:solidFill>
            <a:srgbClr val="111A2C"/>
          </a:solidFill>
          <a:ln w="10160">
            <a:solidFill>
              <a:srgbClr val="24304A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8101584" y="1773936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5B9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USER FLOW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8101584" y="2267712"/>
            <a:ext cx="502920" cy="274320"/>
          </a:xfrm>
          <a:prstGeom prst="roundRect">
            <a:avLst>
              <a:gd name="adj" fmla="val 26667"/>
            </a:avLst>
          </a:prstGeom>
          <a:solidFill>
            <a:srgbClr val="8272F3">
              <a:alpha val="16000"/>
            </a:srgbClr>
          </a:solidFill>
          <a:ln w="8890">
            <a:solidFill>
              <a:srgbClr val="8272F3">
                <a:alpha val="55000"/>
              </a:srgbClr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8156448" y="2276856"/>
            <a:ext cx="393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8272F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01</a:t>
            </a:r>
            <a:endParaRPr lang="en-US" sz="780" dirty="0"/>
          </a:p>
        </p:txBody>
      </p:sp>
      <p:sp>
        <p:nvSpPr>
          <p:cNvPr id="23" name="Text 17"/>
          <p:cNvSpPr/>
          <p:nvPr/>
        </p:nvSpPr>
        <p:spPr>
          <a:xfrm>
            <a:off x="8759952" y="2258568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Сформулировать запрос</a:t>
            </a:r>
            <a:endParaRPr lang="en-US" sz="1010" dirty="0"/>
          </a:p>
        </p:txBody>
      </p:sp>
      <p:sp>
        <p:nvSpPr>
          <p:cNvPr id="24" name="Shape 18"/>
          <p:cNvSpPr/>
          <p:nvPr/>
        </p:nvSpPr>
        <p:spPr>
          <a:xfrm>
            <a:off x="8101584" y="2889504"/>
            <a:ext cx="502920" cy="274320"/>
          </a:xfrm>
          <a:prstGeom prst="roundRect">
            <a:avLst>
              <a:gd name="adj" fmla="val 26667"/>
            </a:avLst>
          </a:prstGeom>
          <a:solidFill>
            <a:srgbClr val="8272F3">
              <a:alpha val="16000"/>
            </a:srgbClr>
          </a:solidFill>
          <a:ln w="8890">
            <a:solidFill>
              <a:srgbClr val="8272F3">
                <a:alpha val="55000"/>
              </a:srgbClr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156448" y="2898648"/>
            <a:ext cx="393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8272F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02</a:t>
            </a:r>
            <a:endParaRPr lang="en-US" sz="780" dirty="0"/>
          </a:p>
        </p:txBody>
      </p:sp>
      <p:sp>
        <p:nvSpPr>
          <p:cNvPr id="26" name="Text 20"/>
          <p:cNvSpPr/>
          <p:nvPr/>
        </p:nvSpPr>
        <p:spPr>
          <a:xfrm>
            <a:off x="8759952" y="288036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Переключить BM25 / Vector / Hybrid</a:t>
            </a:r>
            <a:endParaRPr lang="en-US" sz="1010" dirty="0"/>
          </a:p>
        </p:txBody>
      </p:sp>
      <p:sp>
        <p:nvSpPr>
          <p:cNvPr id="27" name="Shape 21"/>
          <p:cNvSpPr/>
          <p:nvPr/>
        </p:nvSpPr>
        <p:spPr>
          <a:xfrm>
            <a:off x="8101584" y="3511296"/>
            <a:ext cx="502920" cy="274320"/>
          </a:xfrm>
          <a:prstGeom prst="roundRect">
            <a:avLst>
              <a:gd name="adj" fmla="val 26667"/>
            </a:avLst>
          </a:prstGeom>
          <a:solidFill>
            <a:srgbClr val="8272F3">
              <a:alpha val="16000"/>
            </a:srgbClr>
          </a:solidFill>
          <a:ln w="8890">
            <a:solidFill>
              <a:srgbClr val="8272F3">
                <a:alpha val="55000"/>
              </a:srgbClr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8156448" y="3520440"/>
            <a:ext cx="393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8272F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03</a:t>
            </a:r>
            <a:endParaRPr lang="en-US" sz="780" dirty="0"/>
          </a:p>
        </p:txBody>
      </p:sp>
      <p:sp>
        <p:nvSpPr>
          <p:cNvPr id="29" name="Text 23"/>
          <p:cNvSpPr/>
          <p:nvPr/>
        </p:nvSpPr>
        <p:spPr>
          <a:xfrm>
            <a:off x="8759952" y="350215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Открыть score breakdown</a:t>
            </a:r>
            <a:endParaRPr lang="en-US" sz="1010" dirty="0"/>
          </a:p>
        </p:txBody>
      </p:sp>
      <p:sp>
        <p:nvSpPr>
          <p:cNvPr id="30" name="Shape 24"/>
          <p:cNvSpPr/>
          <p:nvPr/>
        </p:nvSpPr>
        <p:spPr>
          <a:xfrm>
            <a:off x="8101584" y="4133088"/>
            <a:ext cx="502920" cy="274320"/>
          </a:xfrm>
          <a:prstGeom prst="roundRect">
            <a:avLst>
              <a:gd name="adj" fmla="val 26667"/>
            </a:avLst>
          </a:prstGeom>
          <a:solidFill>
            <a:srgbClr val="8272F3">
              <a:alpha val="16000"/>
            </a:srgbClr>
          </a:solidFill>
          <a:ln w="8890">
            <a:solidFill>
              <a:srgbClr val="8272F3">
                <a:alpha val="55000"/>
              </a:srgbClr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8156448" y="4142232"/>
            <a:ext cx="393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8272F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04</a:t>
            </a:r>
            <a:endParaRPr lang="en-US" sz="780" dirty="0"/>
          </a:p>
        </p:txBody>
      </p:sp>
      <p:sp>
        <p:nvSpPr>
          <p:cNvPr id="32" name="Text 26"/>
          <p:cNvSpPr/>
          <p:nvPr/>
        </p:nvSpPr>
        <p:spPr>
          <a:xfrm>
            <a:off x="8759952" y="4123944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Прочитать thread и источник</a:t>
            </a:r>
            <a:endParaRPr lang="en-US" sz="1010" dirty="0"/>
          </a:p>
        </p:txBody>
      </p:sp>
      <p:sp>
        <p:nvSpPr>
          <p:cNvPr id="33" name="Shape 27"/>
          <p:cNvSpPr/>
          <p:nvPr/>
        </p:nvSpPr>
        <p:spPr>
          <a:xfrm>
            <a:off x="8101584" y="4754880"/>
            <a:ext cx="502920" cy="274320"/>
          </a:xfrm>
          <a:prstGeom prst="roundRect">
            <a:avLst>
              <a:gd name="adj" fmla="val 26667"/>
            </a:avLst>
          </a:prstGeom>
          <a:solidFill>
            <a:srgbClr val="38D39F">
              <a:alpha val="16000"/>
            </a:srgbClr>
          </a:solidFill>
          <a:ln w="8890">
            <a:solidFill>
              <a:srgbClr val="38D39F">
                <a:alpha val="55000"/>
              </a:srgbClr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8156448" y="4764024"/>
            <a:ext cx="393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38D39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05</a:t>
            </a:r>
            <a:endParaRPr lang="en-US" sz="780" dirty="0"/>
          </a:p>
        </p:txBody>
      </p:sp>
      <p:sp>
        <p:nvSpPr>
          <p:cNvPr id="35" name="Text 29"/>
          <p:cNvSpPr/>
          <p:nvPr/>
        </p:nvSpPr>
        <p:spPr>
          <a:xfrm>
            <a:off x="8759952" y="4745736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F5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Сохранить / история / feedback</a:t>
            </a:r>
            <a:endParaRPr lang="en-US" sz="1010" dirty="0"/>
          </a:p>
        </p:txBody>
      </p:sp>
      <p:sp>
        <p:nvSpPr>
          <p:cNvPr id="36" name="Shape 30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8890">
            <a:solidFill>
              <a:srgbClr val="24304A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521208" y="6492240"/>
            <a:ext cx="9966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973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Данные: 14 real browser screenshots · screenshots-manifest.json: realModeConfirmed=true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7386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272F3"/>
          </a:solidFill>
          <a:ln w="12700">
            <a:solidFill>
              <a:srgbClr val="8272F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45B9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RBAC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Роли и безопасность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100584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UI скрывает лишнее, но граница безопасности — FastAPI permissions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692640" y="31089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PyAnswer  /  11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03504" y="1618488"/>
            <a:ext cx="3200400" cy="1920240"/>
          </a:xfrm>
          <a:prstGeom prst="roundRect">
            <a:avLst>
              <a:gd name="adj" fmla="val 3810"/>
            </a:avLst>
          </a:prstGeom>
          <a:solidFill>
            <a:srgbClr val="111A2C"/>
          </a:solidFill>
          <a:ln w="15240">
            <a:solidFill>
              <a:srgbClr val="45B9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737360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5B9E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USER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2039112"/>
            <a:ext cx="298094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search · RAG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history · saved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profile · feedback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4498848" y="1618488"/>
            <a:ext cx="3200400" cy="1920240"/>
          </a:xfrm>
          <a:prstGeom prst="roundRect">
            <a:avLst>
              <a:gd name="adj" fmla="val 3810"/>
            </a:avLst>
          </a:prstGeom>
          <a:solidFill>
            <a:srgbClr val="111A2C"/>
          </a:solidFill>
          <a:ln w="15240">
            <a:solidFill>
              <a:srgbClr val="8272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1737360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272F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EDITOR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08576" y="2039112"/>
            <a:ext cx="298094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USER +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documents · quality queue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hide · restore · reindex</a:t>
            </a: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8394192" y="1618488"/>
            <a:ext cx="3200400" cy="1920240"/>
          </a:xfrm>
          <a:prstGeom prst="roundRect">
            <a:avLst>
              <a:gd name="adj" fmla="val 3810"/>
            </a:avLst>
          </a:prstGeom>
          <a:solidFill>
            <a:srgbClr val="111A2C"/>
          </a:solidFill>
          <a:ln w="15240">
            <a:solidFill>
              <a:srgbClr val="F074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1737360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747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ADMIN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03920" y="2039112"/>
            <a:ext cx="298094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EDITOR +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users · sources · jobs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indexes · audit · system</a:t>
            </a:r>
            <a:endParaRPr lang="en-US" sz="730" dirty="0"/>
          </a:p>
        </p:txBody>
      </p:sp>
      <p:sp>
        <p:nvSpPr>
          <p:cNvPr id="16" name="Shape 14"/>
          <p:cNvSpPr/>
          <p:nvPr/>
        </p:nvSpPr>
        <p:spPr>
          <a:xfrm>
            <a:off x="3904488" y="2459736"/>
            <a:ext cx="438912" cy="201168"/>
          </a:xfrm>
          <a:prstGeom prst="chevron">
            <a:avLst/>
          </a:prstGeom>
          <a:solidFill>
            <a:srgbClr val="697386">
              <a:alpha val="85000"/>
            </a:srgbClr>
          </a:solidFill>
          <a:ln w="12700">
            <a:solidFill>
              <a:srgbClr val="697386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99832" y="2459736"/>
            <a:ext cx="438912" cy="201168"/>
          </a:xfrm>
          <a:prstGeom prst="chevron">
            <a:avLst/>
          </a:prstGeom>
          <a:solidFill>
            <a:srgbClr val="697386">
              <a:alpha val="85000"/>
            </a:srgbClr>
          </a:solidFill>
          <a:ln w="12700">
            <a:solidFill>
              <a:srgbClr val="697386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" y="4133088"/>
            <a:ext cx="2468880" cy="1069848"/>
          </a:xfrm>
          <a:prstGeom prst="roundRect">
            <a:avLst>
              <a:gd name="adj" fmla="val 6838"/>
            </a:avLst>
          </a:prstGeom>
          <a:solidFill>
            <a:srgbClr val="111A2C"/>
          </a:solidFill>
          <a:ln w="10160">
            <a:solidFill>
              <a:srgbClr val="38D39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4325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D39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Argon2id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86384" y="47274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password hash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392424" y="4133088"/>
            <a:ext cx="2468880" cy="1069848"/>
          </a:xfrm>
          <a:prstGeom prst="roundRect">
            <a:avLst>
              <a:gd name="adj" fmla="val 6838"/>
            </a:avLst>
          </a:prstGeom>
          <a:solidFill>
            <a:srgbClr val="111A2C"/>
          </a:solidFill>
          <a:ln w="10160">
            <a:solidFill>
              <a:srgbClr val="45B9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75304" y="4325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B9E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HttpOnly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75304" y="47274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opaque session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81344" y="4133088"/>
            <a:ext cx="2468880" cy="1069848"/>
          </a:xfrm>
          <a:prstGeom prst="roundRect">
            <a:avLst>
              <a:gd name="adj" fmla="val 6838"/>
            </a:avLst>
          </a:prstGeom>
          <a:solidFill>
            <a:srgbClr val="111A2C"/>
          </a:solidFill>
          <a:ln w="10160">
            <a:solidFill>
              <a:srgbClr val="8272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64224" y="4325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272F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CSRF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64224" y="47274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double-submit token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970264" y="4133088"/>
            <a:ext cx="2468880" cy="1069848"/>
          </a:xfrm>
          <a:prstGeom prst="roundRect">
            <a:avLst>
              <a:gd name="adj" fmla="val 6838"/>
            </a:avLst>
          </a:prstGeom>
          <a:solidFill>
            <a:srgbClr val="111A2C"/>
          </a:solidFill>
          <a:ln w="10160">
            <a:solidFill>
              <a:srgbClr val="F6C8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53144" y="4325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C85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Audit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53144" y="47274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sanitized events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783080" y="5486400"/>
            <a:ext cx="8613648" cy="457200"/>
          </a:xfrm>
          <a:prstGeom prst="roundRect">
            <a:avLst>
              <a:gd name="adj" fmla="val 16000"/>
            </a:avLst>
          </a:prstGeom>
          <a:solidFill>
            <a:srgbClr val="0E1422"/>
          </a:solidFill>
          <a:ln w="10160">
            <a:solidFill>
              <a:srgbClr val="2430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38528" y="5614416"/>
            <a:ext cx="8302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Cookie не содержит JWT · browser storage не хранит access token · секреты не попадают в jobs/audit</a:t>
            </a:r>
            <a:endParaRPr lang="en-US" sz="840" dirty="0"/>
          </a:p>
        </p:txBody>
      </p:sp>
      <p:sp>
        <p:nvSpPr>
          <p:cNvPr id="32" name="Shape 30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8890">
            <a:solidFill>
              <a:srgbClr val="2430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" y="6492240"/>
            <a:ext cx="9966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973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Данные: backend/app/core/security.py · permissions.py · services/auth.py · docs/rag-security.md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7386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272F3"/>
          </a:solidFill>
          <a:ln w="12700">
            <a:solidFill>
              <a:srgbClr val="8272F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45B9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OPERATIONS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Администрирование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100584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Источники · jobs · users · audit · system status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692640" y="31089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PyAnswer  /  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3749040" cy="2651760"/>
          </a:xfrm>
          <a:prstGeom prst="roundRect">
            <a:avLst>
              <a:gd name="adj" fmla="val 2759"/>
            </a:avLst>
          </a:prstGeom>
          <a:solidFill>
            <a:srgbClr val="090E18"/>
          </a:solidFill>
          <a:ln w="10160">
            <a:solidFill>
              <a:srgbClr val="24304A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pic>
        <p:nvPicPr>
          <p:cNvPr id="8" name="Image 0" descr="Админ-панель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536192"/>
            <a:ext cx="3639312" cy="23225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12648" y="3858768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Админ-панель</a:t>
            </a:r>
            <a:endParaRPr lang="en-US" sz="720" dirty="0"/>
          </a:p>
        </p:txBody>
      </p:sp>
      <p:sp>
        <p:nvSpPr>
          <p:cNvPr id="10" name="Shape 7"/>
          <p:cNvSpPr/>
          <p:nvPr/>
        </p:nvSpPr>
        <p:spPr>
          <a:xfrm>
            <a:off x="4443984" y="1481328"/>
            <a:ext cx="3493008" cy="2496312"/>
          </a:xfrm>
          <a:prstGeom prst="roundRect">
            <a:avLst>
              <a:gd name="adj" fmla="val 2930"/>
            </a:avLst>
          </a:prstGeom>
          <a:solidFill>
            <a:srgbClr val="090E18"/>
          </a:solidFill>
          <a:ln w="10160">
            <a:solidFill>
              <a:srgbClr val="24304A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pic>
        <p:nvPicPr>
          <p:cNvPr id="11" name="Image 1" descr="Источники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98848" y="1536192"/>
            <a:ext cx="3383280" cy="21671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3712" y="3703320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Источники</a:t>
            </a:r>
            <a:endParaRPr lang="en-US" sz="720" dirty="0"/>
          </a:p>
        </p:txBody>
      </p:sp>
      <p:sp>
        <p:nvSpPr>
          <p:cNvPr id="13" name="Shape 9"/>
          <p:cNvSpPr/>
          <p:nvPr/>
        </p:nvSpPr>
        <p:spPr>
          <a:xfrm>
            <a:off x="8129016" y="1481328"/>
            <a:ext cx="3557016" cy="2532888"/>
          </a:xfrm>
          <a:prstGeom prst="roundRect">
            <a:avLst>
              <a:gd name="adj" fmla="val 2888"/>
            </a:avLst>
          </a:prstGeom>
          <a:solidFill>
            <a:srgbClr val="090E18"/>
          </a:solidFill>
          <a:ln w="10160">
            <a:solidFill>
              <a:srgbClr val="24304A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pic>
        <p:nvPicPr>
          <p:cNvPr id="14" name="Image 2" descr="Job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83880" y="1536192"/>
            <a:ext cx="3447288" cy="220370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38744" y="3739896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Jobs</a:t>
            </a:r>
            <a:endParaRPr lang="en-US" sz="720" dirty="0"/>
          </a:p>
        </p:txBody>
      </p:sp>
      <p:sp>
        <p:nvSpPr>
          <p:cNvPr id="16" name="Shape 11"/>
          <p:cNvSpPr/>
          <p:nvPr/>
        </p:nvSpPr>
        <p:spPr>
          <a:xfrm>
            <a:off x="502920" y="4078224"/>
            <a:ext cx="5532120" cy="2295144"/>
          </a:xfrm>
          <a:prstGeom prst="roundRect">
            <a:avLst>
              <a:gd name="adj" fmla="val 3187"/>
            </a:avLst>
          </a:prstGeom>
          <a:solidFill>
            <a:srgbClr val="090E18"/>
          </a:solidFill>
          <a:ln w="10160">
            <a:solidFill>
              <a:srgbClr val="24304A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pic>
        <p:nvPicPr>
          <p:cNvPr id="17" name="Image 3" descr="Audi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57784" y="4133088"/>
            <a:ext cx="5422392" cy="19659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2648" y="6099048"/>
            <a:ext cx="5312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Audit</a:t>
            </a:r>
            <a:endParaRPr lang="en-US" sz="720" dirty="0"/>
          </a:p>
        </p:txBody>
      </p:sp>
      <p:sp>
        <p:nvSpPr>
          <p:cNvPr id="19" name="Shape 13"/>
          <p:cNvSpPr/>
          <p:nvPr/>
        </p:nvSpPr>
        <p:spPr>
          <a:xfrm>
            <a:off x="6236208" y="4078224"/>
            <a:ext cx="5449824" cy="2295144"/>
          </a:xfrm>
          <a:prstGeom prst="roundRect">
            <a:avLst>
              <a:gd name="adj" fmla="val 3187"/>
            </a:avLst>
          </a:prstGeom>
          <a:solidFill>
            <a:srgbClr val="090E18"/>
          </a:solidFill>
          <a:ln w="10160">
            <a:solidFill>
              <a:srgbClr val="24304A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pic>
        <p:nvPicPr>
          <p:cNvPr id="20" name="Image 4" descr="System status · UNKNOWN остаётся UNKNOWN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291072" y="4133088"/>
            <a:ext cx="5340096" cy="19659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345936" y="6099048"/>
            <a:ext cx="5230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System status · UNKNOWN остаётся UNKNOWN</a:t>
            </a:r>
            <a:endParaRPr lang="en-US" sz="720" dirty="0"/>
          </a:p>
        </p:txBody>
      </p:sp>
      <p:sp>
        <p:nvSpPr>
          <p:cNvPr id="22" name="Shape 15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8890">
            <a:solidFill>
              <a:srgbClr val="24304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21208" y="6492240"/>
            <a:ext cx="9966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973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Данные: живой ADMIN session · /admin/* · PostgreSQL operational APIs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7386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272F3"/>
          </a:solidFill>
          <a:ln w="12700">
            <a:solidFill>
              <a:srgbClr val="8272F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45B9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EVIDENCE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Тестирование и метрики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100584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Только подтверждённые значения; отсутствующее явно отмечено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692640" y="31089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PyAnswer  /  13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30352" y="1554480"/>
            <a:ext cx="1572768" cy="822960"/>
          </a:xfrm>
          <a:prstGeom prst="roundRect">
            <a:avLst>
              <a:gd name="adj" fmla="val 8889"/>
            </a:avLst>
          </a:prstGeom>
          <a:solidFill>
            <a:srgbClr val="111A2C"/>
          </a:solidFill>
          <a:ln w="10160">
            <a:solidFill>
              <a:srgbClr val="2430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1664208"/>
            <a:ext cx="1280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5B9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188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76656" y="204825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BACKEND TESTS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267712" y="1554480"/>
            <a:ext cx="1572768" cy="822960"/>
          </a:xfrm>
          <a:prstGeom prst="roundRect">
            <a:avLst>
              <a:gd name="adj" fmla="val 8889"/>
            </a:avLst>
          </a:prstGeom>
          <a:solidFill>
            <a:srgbClr val="111A2C"/>
          </a:solidFill>
          <a:ln w="10160">
            <a:solidFill>
              <a:srgbClr val="2430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14016" y="1664208"/>
            <a:ext cx="1280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272F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414016" y="204825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FRONTEND TESTS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005072" y="155448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111A2C"/>
          </a:solidFill>
          <a:ln w="10160">
            <a:solidFill>
              <a:srgbClr val="2430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51376" y="1664208"/>
            <a:ext cx="16276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8D39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81.13%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151376" y="2048256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BACKEND COVERAGE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089904" y="1554480"/>
            <a:ext cx="1572768" cy="822960"/>
          </a:xfrm>
          <a:prstGeom prst="roundRect">
            <a:avLst>
              <a:gd name="adj" fmla="val 8889"/>
            </a:avLst>
          </a:prstGeom>
          <a:solidFill>
            <a:srgbClr val="111A2C"/>
          </a:solidFill>
          <a:ln w="10160">
            <a:solidFill>
              <a:srgbClr val="2430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6208" y="1664208"/>
            <a:ext cx="1280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0747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236208" y="204825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BROWSER E2E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7845552" y="1554480"/>
            <a:ext cx="3822192" cy="822960"/>
          </a:xfrm>
          <a:prstGeom prst="roundRect">
            <a:avLst>
              <a:gd name="adj" fmla="val 8889"/>
            </a:avLst>
          </a:prstGeom>
          <a:solidFill>
            <a:srgbClr val="111A2C"/>
          </a:solidFill>
          <a:ln w="10160">
            <a:solidFill>
              <a:srgbClr val="38D39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83296" y="17007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8D39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PASS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107424" y="1719072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acceptance + index consistency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530352" y="2670048"/>
            <a:ext cx="7132320" cy="2157984"/>
          </a:xfrm>
          <a:prstGeom prst="roundRect">
            <a:avLst>
              <a:gd name="adj" fmla="val 3390"/>
            </a:avLst>
          </a:prstGeom>
          <a:solidFill>
            <a:srgbClr val="111A2C"/>
          </a:solidFill>
          <a:ln w="10160">
            <a:solidFill>
              <a:srgbClr val="2430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288036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45B9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LIVE LATENCY · единичные demo-запросы, не benchmark</a:t>
            </a:r>
            <a:endParaRPr lang="en-US" sz="830" dirty="0"/>
          </a:p>
        </p:txBody>
      </p:sp>
      <p:sp>
        <p:nvSpPr>
          <p:cNvPr id="24" name="Text 22"/>
          <p:cNvSpPr/>
          <p:nvPr/>
        </p:nvSpPr>
        <p:spPr>
          <a:xfrm>
            <a:off x="768096" y="331012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BM25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1627632" y="3328416"/>
            <a:ext cx="2886595" cy="146304"/>
          </a:xfrm>
          <a:prstGeom prst="roundRect">
            <a:avLst>
              <a:gd name="adj" fmla="val 25000"/>
            </a:avLst>
          </a:prstGeom>
          <a:solidFill>
            <a:srgbClr val="45B9E8">
              <a:alpha val="88000"/>
            </a:srgbClr>
          </a:solidFill>
          <a:ln w="12700">
            <a:solidFill>
              <a:srgbClr val="45B9E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16752" y="331012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45B9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20.835 s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768096" y="3666744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VECTOR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1627632" y="3685032"/>
            <a:ext cx="2420943" cy="146304"/>
          </a:xfrm>
          <a:prstGeom prst="roundRect">
            <a:avLst>
              <a:gd name="adj" fmla="val 25000"/>
            </a:avLst>
          </a:prstGeom>
          <a:solidFill>
            <a:srgbClr val="8272F3">
              <a:alpha val="88000"/>
            </a:srgbClr>
          </a:solidFill>
          <a:ln w="12700">
            <a:solidFill>
              <a:srgbClr val="8272F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16752" y="3666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8272F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17.474 s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768096" y="4023360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HYBRID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1627632" y="4041648"/>
            <a:ext cx="2878836" cy="146304"/>
          </a:xfrm>
          <a:prstGeom prst="roundRect">
            <a:avLst>
              <a:gd name="adj" fmla="val 25000"/>
            </a:avLst>
          </a:prstGeom>
          <a:solidFill>
            <a:srgbClr val="38D39F">
              <a:alpha val="88000"/>
            </a:srgbClr>
          </a:solidFill>
          <a:ln w="12700">
            <a:solidFill>
              <a:srgbClr val="38D39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16752" y="402336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38D39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20.779 s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768096" y="4379976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RAG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1627632" y="4398264"/>
            <a:ext cx="4021420" cy="146304"/>
          </a:xfrm>
          <a:prstGeom prst="roundRect">
            <a:avLst>
              <a:gd name="adj" fmla="val 25000"/>
            </a:avLst>
          </a:prstGeom>
          <a:solidFill>
            <a:srgbClr val="F6C85F">
              <a:alpha val="88000"/>
            </a:srgbClr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16752" y="437997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F6C85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29.026 s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7936992" y="2670048"/>
            <a:ext cx="3730752" cy="2157984"/>
          </a:xfrm>
          <a:prstGeom prst="roundRect">
            <a:avLst>
              <a:gd name="adj" fmla="val 3390"/>
            </a:avLst>
          </a:prstGeom>
          <a:solidFill>
            <a:srgbClr val="15131C"/>
          </a:solidFill>
          <a:ln w="10160">
            <a:solidFill>
              <a:srgbClr val="F6C8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83880" y="288036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6C85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EVALUATION</a:t>
            </a:r>
            <a:endParaRPr lang="en-US" sz="830" dirty="0"/>
          </a:p>
        </p:txBody>
      </p:sp>
      <p:sp>
        <p:nvSpPr>
          <p:cNvPr id="38" name="Text 36"/>
          <p:cNvSpPr/>
          <p:nvPr/>
        </p:nvSpPr>
        <p:spPr>
          <a:xfrm>
            <a:off x="8183880" y="3291840"/>
            <a:ext cx="3246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C85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НЕ ИЗМЕРЕНО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503920" y="3767328"/>
            <a:ext cx="2615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retrieval: 0 / 30 reviewed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RAG: 0 / 20 reviewed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reports: 0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530352" y="5138928"/>
            <a:ext cx="11137392" cy="667512"/>
          </a:xfrm>
          <a:prstGeom prst="roundRect">
            <a:avLst>
              <a:gd name="adj" fmla="val 10959"/>
            </a:avLst>
          </a:prstGeom>
          <a:solidFill>
            <a:srgbClr val="0E1422"/>
          </a:solidFill>
          <a:ln w="10160">
            <a:solidFill>
              <a:srgbClr val="24304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86384" y="5340096"/>
            <a:ext cx="1773936" cy="274320"/>
          </a:xfrm>
          <a:prstGeom prst="roundRect">
            <a:avLst>
              <a:gd name="adj" fmla="val 26667"/>
            </a:avLst>
          </a:prstGeom>
          <a:solidFill>
            <a:srgbClr val="38D39F">
              <a:alpha val="16000"/>
            </a:srgbClr>
          </a:solidFill>
          <a:ln w="8890">
            <a:solidFill>
              <a:srgbClr val="38D39F">
                <a:alpha val="5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1248" y="5349240"/>
            <a:ext cx="1664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38D39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QDRANT INTEGRATION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2761488" y="5340096"/>
            <a:ext cx="1536192" cy="274320"/>
          </a:xfrm>
          <a:prstGeom prst="roundRect">
            <a:avLst>
              <a:gd name="adj" fmla="val 26667"/>
            </a:avLst>
          </a:prstGeom>
          <a:solidFill>
            <a:srgbClr val="45B9E8">
              <a:alpha val="16000"/>
            </a:srgbClr>
          </a:solidFill>
          <a:ln w="8890">
            <a:solidFill>
              <a:srgbClr val="45B9E8">
                <a:alpha val="5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16352" y="5349240"/>
            <a:ext cx="1426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5B9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LIVE SEARCH 3/3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4498848" y="5340096"/>
            <a:ext cx="1042416" cy="274320"/>
          </a:xfrm>
          <a:prstGeom prst="roundRect">
            <a:avLst>
              <a:gd name="adj" fmla="val 26667"/>
            </a:avLst>
          </a:prstGeom>
          <a:solidFill>
            <a:srgbClr val="8272F3">
              <a:alpha val="16000"/>
            </a:srgbClr>
          </a:solidFill>
          <a:ln w="8890">
            <a:solidFill>
              <a:srgbClr val="8272F3">
                <a:alpha val="5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53712" y="5349240"/>
            <a:ext cx="9326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8272F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LIVE RAG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5742432" y="5340096"/>
            <a:ext cx="1444752" cy="274320"/>
          </a:xfrm>
          <a:prstGeom prst="roundRect">
            <a:avLst>
              <a:gd name="adj" fmla="val 26667"/>
            </a:avLst>
          </a:prstGeom>
          <a:solidFill>
            <a:srgbClr val="F6C85F">
              <a:alpha val="16000"/>
            </a:srgbClr>
          </a:solidFill>
          <a:ln w="8890">
            <a:solidFill>
              <a:srgbClr val="F6C85F">
                <a:alpha val="5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97296" y="5349240"/>
            <a:ext cx="13350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6C85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RESTORE DRILL</a:t>
            </a:r>
            <a:endParaRPr lang="en-US" sz="780" dirty="0"/>
          </a:p>
        </p:txBody>
      </p:sp>
      <p:sp>
        <p:nvSpPr>
          <p:cNvPr id="49" name="Text 47"/>
          <p:cNvSpPr/>
          <p:nvPr/>
        </p:nvSpPr>
        <p:spPr>
          <a:xfrm>
            <a:off x="7534656" y="5340096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coverage threshold = 80%</a:t>
            </a:r>
            <a:endParaRPr lang="en-US" sz="920" dirty="0"/>
          </a:p>
        </p:txBody>
      </p:sp>
      <p:sp>
        <p:nvSpPr>
          <p:cNvPr id="50" name="Shape 48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8890">
            <a:solidFill>
              <a:srgbClr val="2430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1208" y="6492240"/>
            <a:ext cx="9966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973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Данные: artifacts/release-manifest.json · backend-coverage.json · acceptance-report.json · PostgreSQL telemetry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7386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272F3"/>
          </a:solidFill>
          <a:ln w="12700">
            <a:solidFill>
              <a:srgbClr val="8272F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45B9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LIVE RESULT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Демонстрация результата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100584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Четыре реальных контура одной системы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692640" y="31089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PyAnswer  /  14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30352" y="1481328"/>
            <a:ext cx="5440680" cy="3712464"/>
          </a:xfrm>
          <a:prstGeom prst="roundRect">
            <a:avLst>
              <a:gd name="adj" fmla="val 1970"/>
            </a:avLst>
          </a:prstGeom>
          <a:solidFill>
            <a:srgbClr val="090E18"/>
          </a:solidFill>
          <a:ln w="10160">
            <a:solidFill>
              <a:srgbClr val="24304A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pic>
        <p:nvPicPr>
          <p:cNvPr id="8" name="Image 0" descr="1 · Hybrid + score breakdow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5216" y="1536192"/>
            <a:ext cx="5330952" cy="3383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4919472"/>
            <a:ext cx="5221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 · Hybrid + score breakdown</a:t>
            </a:r>
            <a:endParaRPr lang="en-US" sz="720" dirty="0"/>
          </a:p>
        </p:txBody>
      </p:sp>
      <p:sp>
        <p:nvSpPr>
          <p:cNvPr id="10" name="Shape 7"/>
          <p:cNvSpPr/>
          <p:nvPr/>
        </p:nvSpPr>
        <p:spPr>
          <a:xfrm>
            <a:off x="6217920" y="1481328"/>
            <a:ext cx="5440680" cy="3712464"/>
          </a:xfrm>
          <a:prstGeom prst="roundRect">
            <a:avLst>
              <a:gd name="adj" fmla="val 1970"/>
            </a:avLst>
          </a:prstGeom>
          <a:solidFill>
            <a:srgbClr val="090E18"/>
          </a:solidFill>
          <a:ln w="10160">
            <a:solidFill>
              <a:srgbClr val="24304A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pic>
        <p:nvPicPr>
          <p:cNvPr id="11" name="Image 1" descr="2 · Streaming RAG + citation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72784" y="1536192"/>
            <a:ext cx="5330952" cy="33832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27648" y="4919472"/>
            <a:ext cx="5221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2 · Streaming RAG + citations</a:t>
            </a:r>
            <a:endParaRPr lang="en-US" sz="720" dirty="0"/>
          </a:p>
        </p:txBody>
      </p:sp>
      <p:sp>
        <p:nvSpPr>
          <p:cNvPr id="13" name="Shape 9"/>
          <p:cNvSpPr/>
          <p:nvPr/>
        </p:nvSpPr>
        <p:spPr>
          <a:xfrm>
            <a:off x="530352" y="5175504"/>
            <a:ext cx="5440680" cy="1069848"/>
          </a:xfrm>
          <a:prstGeom prst="roundRect">
            <a:avLst>
              <a:gd name="adj" fmla="val 6838"/>
            </a:avLst>
          </a:prstGeom>
          <a:solidFill>
            <a:srgbClr val="090E18"/>
          </a:solidFill>
          <a:ln w="10160">
            <a:solidFill>
              <a:srgbClr val="24304A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pic>
        <p:nvPicPr>
          <p:cNvPr id="14" name="Image 2" descr="3 · EDI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85216" y="5230368"/>
            <a:ext cx="5330952" cy="7406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0080" y="5971032"/>
            <a:ext cx="5221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3 · EDITOR</a:t>
            </a:r>
            <a:endParaRPr lang="en-US" sz="720" dirty="0"/>
          </a:p>
        </p:txBody>
      </p:sp>
      <p:sp>
        <p:nvSpPr>
          <p:cNvPr id="16" name="Shape 11"/>
          <p:cNvSpPr/>
          <p:nvPr/>
        </p:nvSpPr>
        <p:spPr>
          <a:xfrm>
            <a:off x="6217920" y="5175504"/>
            <a:ext cx="5440680" cy="1069848"/>
          </a:xfrm>
          <a:prstGeom prst="roundRect">
            <a:avLst>
              <a:gd name="adj" fmla="val 6838"/>
            </a:avLst>
          </a:prstGeom>
          <a:solidFill>
            <a:srgbClr val="090E18"/>
          </a:solidFill>
          <a:ln w="10160">
            <a:solidFill>
              <a:srgbClr val="24304A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pic>
        <p:nvPicPr>
          <p:cNvPr id="17" name="Image 3" descr="4 · ADMIN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72784" y="5230368"/>
            <a:ext cx="5330952" cy="74066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27648" y="5971032"/>
            <a:ext cx="5221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4 · ADMIN</a:t>
            </a:r>
            <a:endParaRPr lang="en-US" sz="720" dirty="0"/>
          </a:p>
        </p:txBody>
      </p:sp>
      <p:sp>
        <p:nvSpPr>
          <p:cNvPr id="19" name="Shape 13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8890">
            <a:solidFill>
              <a:srgbClr val="24304A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521208" y="6492240"/>
            <a:ext cx="9966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973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Данные: headless Chrome · 1600×1000 · 49 real API responses · 16.07.2026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7386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272F3"/>
          </a:solidFill>
          <a:ln w="12700">
            <a:solidFill>
              <a:srgbClr val="8272F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45B9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ИТОГ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PyAnswer реализован end-to-end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100584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Подтверждённый корпус, воспроизводимый индекс и проверяемый локальный ответ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692640" y="31089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PyAnswer  /  15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94360" y="1572768"/>
            <a:ext cx="2816352" cy="822960"/>
          </a:xfrm>
          <a:prstGeom prst="roundRect">
            <a:avLst>
              <a:gd name="adj" fmla="val 8889"/>
            </a:avLst>
          </a:prstGeom>
          <a:solidFill>
            <a:srgbClr val="111A2C"/>
          </a:solidFill>
          <a:ln w="10160">
            <a:solidFill>
              <a:srgbClr val="2430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682496"/>
            <a:ext cx="25237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8D39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10 700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40664" y="2066544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REAL DOCS  &gt;  REQUIREMENT 5 000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584448" y="1572768"/>
            <a:ext cx="2816352" cy="822960"/>
          </a:xfrm>
          <a:prstGeom prst="roundRect">
            <a:avLst>
              <a:gd name="adj" fmla="val 8889"/>
            </a:avLst>
          </a:prstGeom>
          <a:solidFill>
            <a:srgbClr val="111A2C"/>
          </a:solidFill>
          <a:ln w="10160">
            <a:solidFill>
              <a:srgbClr val="2430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0752" y="1682496"/>
            <a:ext cx="25237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272F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25 214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30752" y="2066544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CHUNKS = QDRANT POINTS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574536" y="1572768"/>
            <a:ext cx="2084832" cy="822960"/>
          </a:xfrm>
          <a:prstGeom prst="roundRect">
            <a:avLst>
              <a:gd name="adj" fmla="val 8889"/>
            </a:avLst>
          </a:prstGeom>
          <a:solidFill>
            <a:srgbClr val="111A2C"/>
          </a:solidFill>
          <a:ln w="10160">
            <a:solidFill>
              <a:srgbClr val="2430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1682496"/>
            <a:ext cx="17922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5B9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720840" y="2066544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SEARCH MODES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8833104" y="1572768"/>
            <a:ext cx="2084832" cy="822960"/>
          </a:xfrm>
          <a:prstGeom prst="roundRect">
            <a:avLst>
              <a:gd name="adj" fmla="val 8889"/>
            </a:avLst>
          </a:prstGeom>
          <a:solidFill>
            <a:srgbClr val="111A2C"/>
          </a:solidFill>
          <a:ln w="10160">
            <a:solidFill>
              <a:srgbClr val="2430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79408" y="1682496"/>
            <a:ext cx="17922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6C85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979408" y="2066544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9A4B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RBAC ROLES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94360" y="2761488"/>
            <a:ext cx="5522976" cy="2560320"/>
          </a:xfrm>
          <a:prstGeom prst="roundRect">
            <a:avLst>
              <a:gd name="adj" fmla="val 2857"/>
            </a:avLst>
          </a:prstGeom>
          <a:solidFill>
            <a:srgbClr val="111A2C"/>
          </a:solidFill>
          <a:ln w="10160">
            <a:solidFill>
              <a:srgbClr val="38D39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299923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8D39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РЕАЛИЗОВАНО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59536" y="3493008"/>
            <a:ext cx="384048" cy="274320"/>
          </a:xfrm>
          <a:prstGeom prst="roundRect">
            <a:avLst>
              <a:gd name="adj" fmla="val 26667"/>
            </a:avLst>
          </a:prstGeom>
          <a:solidFill>
            <a:srgbClr val="38D39F">
              <a:alpha val="16000"/>
            </a:srgbClr>
          </a:solidFill>
          <a:ln w="8890">
            <a:solidFill>
              <a:srgbClr val="38D39F">
                <a:alpha val="5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502152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38D39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✓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1408176" y="347472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5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durable ingestion + checkpoint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59536" y="3822192"/>
            <a:ext cx="384048" cy="274320"/>
          </a:xfrm>
          <a:prstGeom prst="roundRect">
            <a:avLst>
              <a:gd name="adj" fmla="val 26667"/>
            </a:avLst>
          </a:prstGeom>
          <a:solidFill>
            <a:srgbClr val="38D39F">
              <a:alpha val="16000"/>
            </a:srgbClr>
          </a:solidFill>
          <a:ln w="8890">
            <a:solidFill>
              <a:srgbClr val="38D39F">
                <a:alpha val="5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831336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38D39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✓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1408176" y="3803904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5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BM25 + dense HNSW + RRF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59536" y="4151376"/>
            <a:ext cx="384048" cy="274320"/>
          </a:xfrm>
          <a:prstGeom prst="roundRect">
            <a:avLst>
              <a:gd name="adj" fmla="val 26667"/>
            </a:avLst>
          </a:prstGeom>
          <a:solidFill>
            <a:srgbClr val="38D39F">
              <a:alpha val="16000"/>
            </a:srgbClr>
          </a:solidFill>
          <a:ln w="8890">
            <a:solidFill>
              <a:srgbClr val="38D39F">
                <a:alpha val="5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4160520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38D39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✓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1408176" y="4133088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5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local reranker + streaming RAG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59536" y="4480560"/>
            <a:ext cx="384048" cy="274320"/>
          </a:xfrm>
          <a:prstGeom prst="roundRect">
            <a:avLst>
              <a:gd name="adj" fmla="val 26667"/>
            </a:avLst>
          </a:prstGeom>
          <a:solidFill>
            <a:srgbClr val="38D39F">
              <a:alpha val="16000"/>
            </a:srgbClr>
          </a:solidFill>
          <a:ln w="8890">
            <a:solidFill>
              <a:srgbClr val="38D39F">
                <a:alpha val="5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489704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38D39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✓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1408176" y="446227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5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citations + insufficient gate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59536" y="4809744"/>
            <a:ext cx="384048" cy="274320"/>
          </a:xfrm>
          <a:prstGeom prst="roundRect">
            <a:avLst>
              <a:gd name="adj" fmla="val 26667"/>
            </a:avLst>
          </a:prstGeom>
          <a:solidFill>
            <a:srgbClr val="38D39F">
              <a:alpha val="16000"/>
            </a:srgbClr>
          </a:solidFill>
          <a:ln w="8890">
            <a:solidFill>
              <a:srgbClr val="38D39F">
                <a:alpha val="5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4818888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38D39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✓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1408176" y="479145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5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USER / EDITOR / ADMIN + audit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55080" y="2761488"/>
            <a:ext cx="4910328" cy="2560320"/>
          </a:xfrm>
          <a:prstGeom prst="roundRect">
            <a:avLst>
              <a:gd name="adj" fmla="val 2857"/>
            </a:avLst>
          </a:prstGeom>
          <a:solidFill>
            <a:srgbClr val="15131C"/>
          </a:solidFill>
          <a:ln w="10160">
            <a:solidFill>
              <a:srgbClr val="F6C8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20256" y="29992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6C85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ДАЛЬШЕ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620256" y="3511296"/>
            <a:ext cx="384048" cy="274320"/>
          </a:xfrm>
          <a:prstGeom prst="roundRect">
            <a:avLst>
              <a:gd name="adj" fmla="val 26667"/>
            </a:avLst>
          </a:prstGeom>
          <a:solidFill>
            <a:srgbClr val="F6C85F">
              <a:alpha val="16000"/>
            </a:srgbClr>
          </a:solidFill>
          <a:ln w="8890">
            <a:solidFill>
              <a:srgbClr val="F6C85F">
                <a:alpha val="5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75120" y="3520440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6C85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→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7168896" y="3474720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ручная разметка qrels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620256" y="3904488"/>
            <a:ext cx="384048" cy="274320"/>
          </a:xfrm>
          <a:prstGeom prst="roundRect">
            <a:avLst>
              <a:gd name="adj" fmla="val 26667"/>
            </a:avLst>
          </a:prstGeom>
          <a:solidFill>
            <a:srgbClr val="F6C85F">
              <a:alpha val="16000"/>
            </a:srgbClr>
          </a:solidFill>
          <a:ln w="8890">
            <a:solidFill>
              <a:srgbClr val="F6C85F">
                <a:alpha val="5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75120" y="3913632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6C85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→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7168896" y="386791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browser E2E suite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620256" y="4297680"/>
            <a:ext cx="384048" cy="274320"/>
          </a:xfrm>
          <a:prstGeom prst="roundRect">
            <a:avLst>
              <a:gd name="adj" fmla="val 26667"/>
            </a:avLst>
          </a:prstGeom>
          <a:solidFill>
            <a:srgbClr val="F6C85F">
              <a:alpha val="16000"/>
            </a:srgbClr>
          </a:solidFill>
          <a:ln w="8890">
            <a:solidFill>
              <a:srgbClr val="F6C85F">
                <a:alpha val="5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75120" y="4306824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6C85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→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7168896" y="426110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latency profiling / tuning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620256" y="4690872"/>
            <a:ext cx="384048" cy="274320"/>
          </a:xfrm>
          <a:prstGeom prst="roundRect">
            <a:avLst>
              <a:gd name="adj" fmla="val 26667"/>
            </a:avLst>
          </a:prstGeom>
          <a:solidFill>
            <a:srgbClr val="F6C85F">
              <a:alpha val="16000"/>
            </a:srgbClr>
          </a:solidFill>
          <a:ln w="8890">
            <a:solidFill>
              <a:srgbClr val="F6C85F">
                <a:alpha val="5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75120" y="4700016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6C85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→</a:t>
            </a:r>
            <a:endParaRPr lang="en-US" sz="780" dirty="0"/>
          </a:p>
        </p:txBody>
      </p:sp>
      <p:sp>
        <p:nvSpPr>
          <p:cNvPr id="49" name="Text 47"/>
          <p:cNvSpPr/>
          <p:nvPr/>
        </p:nvSpPr>
        <p:spPr>
          <a:xfrm>
            <a:off x="7168896" y="4654296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9A4B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продолжить импорт до 25k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234440" y="5724144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Локально. Проверяемо. Воспроизводимо.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8890">
            <a:solidFill>
              <a:srgbClr val="2430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1208" y="6492240"/>
            <a:ext cx="9966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973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Данные: artifacts/acceptance-report.json · release-manifest.json · screenshots-manifest.json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7386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jaVu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ejaVu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PyAnswer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PyAnswer — локальная поисковая RAG-система</dc:title>
  <dc:subject>Финальная презентация проекта PyAnswer</dc:subject>
  <dc:creator>PyAnswer</dc:creator>
  <cp:lastModifiedBy>PyAnswer</cp:lastModifiedBy>
  <cp:revision>1</cp:revision>
  <dcterms:created xsi:type="dcterms:W3CDTF">2026-07-16T19:48:06Z</dcterms:created>
  <dcterms:modified xsi:type="dcterms:W3CDTF">2026-07-16T19:48:06Z</dcterms:modified>
</cp:coreProperties>
</file>